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v6</c:v>
                </c:pt>
              </c:strCache>
            </c:strRef>
          </c:tx>
          <c:spPr>
            <a:solidFill>
              <a:srgbClr val="6C7D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6FB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Dice</c:v>
                  </c:pt>
                  <c:pt idx="1">
                    <c:v>Precision</c:v>
                  </c:pt>
                  <c:pt idx="2">
                    <c:v>Recall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0.4845</c:v>
                </c:pt>
                <c:pt idx="1">
                  <c:v>0.3434</c:v>
                </c:pt>
                <c:pt idx="2">
                  <c:v>0.8686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v7</c:v>
                </c:pt>
              </c:strCache>
            </c:strRef>
          </c:tx>
          <c:spPr>
            <a:solidFill>
              <a:srgbClr val="2ED3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6FB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Dice</c:v>
                  </c:pt>
                  <c:pt idx="1">
                    <c:v>Precision</c:v>
                  </c:pt>
                  <c:pt idx="2">
                    <c:v>Recall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0.7933</c:v>
                </c:pt>
                <c:pt idx="1">
                  <c:v>0.7862</c:v>
                </c:pt>
                <c:pt idx="2">
                  <c:v>0.8245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6FB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B7C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B7C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A5B7C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https://www.aicomp.cn/tracks/tracks-2/3806.html
- Local project screenshot: assets_final/05_sdf3d_2880x1800.png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Local PROJECT_STATUS.md / TASKS.md
- Local v7 full_volume_validation197/summary.json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Local v6 full_volume_validation197/summary.json
- Local v7 full_volume_validation197/summary.json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https://www.aicomp.cn/tracks/tracks-2/3806.html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Local project screenshot: assets_final/05_sdf3d_2880x1800.png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D3D0"/>
          </a:solidFill>
          <a:ln w="12700">
            <a:solidFill>
              <a:srgbClr val="2ED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9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8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智骨云析 · OrthoVision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784080" y="65196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AIC · AI+学科交叉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AIC比赛/assets_final/05_sdf3d_2880x18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0"/>
            <a:ext cx="51965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63640" y="0"/>
            <a:ext cx="2194560" cy="6858000"/>
          </a:xfrm>
          <a:prstGeom prst="rect">
            <a:avLst/>
          </a:prstGeom>
          <a:solidFill>
            <a:srgbClr val="071421">
              <a:alpha val="8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7178040" cy="6858000"/>
          </a:xfrm>
          <a:prstGeom prst="rect">
            <a:avLst/>
          </a:prstGeom>
          <a:solidFill>
            <a:srgbClr val="071421"/>
          </a:solidFill>
          <a:ln w="12700">
            <a:solidFill>
              <a:srgbClr val="07142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" y="594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AIC · AI+学科交叉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21792" y="123444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智骨云析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1938528"/>
            <a:ext cx="5806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基于 SegFormer3D 的骨科 CT 智能分割与</a:t>
            </a:r>
          </a:p>
          <a:p>
            <a:r>
              <a:t>三维空间认知教学实验平台</a:t>
            </a:r>
          </a:p>
        </p:txBody>
      </p:sp>
      <p:sp>
        <p:nvSpPr>
          <p:cNvPr id="8" name="Text 5"/>
          <p:cNvSpPr txBox="1"/>
          <p:nvPr/>
        </p:nvSpPr>
        <p:spPr>
          <a:xfrm>
            <a:off x="621792" y="3310128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让真实 AI 成为医学生理解 CT 影像与三维空间结构的教学支架。</a:t>
            </a:r>
          </a:p>
        </p:txBody>
      </p:sp>
      <p:sp>
        <p:nvSpPr>
          <p:cNvPr id="9" name="Shape 6"/>
          <p:cNvSpPr/>
          <p:nvPr/>
        </p:nvSpPr>
        <p:spPr>
          <a:xfrm>
            <a:off x="621792" y="4315968"/>
            <a:ext cx="1325880" cy="292608"/>
          </a:xfrm>
          <a:prstGeom prst="roundRect">
            <a:avLst/>
          </a:prstGeom>
          <a:solidFill>
            <a:srgbClr val="2ED3D0">
              <a:alpha val="20000"/>
            </a:srgbClr>
          </a:solidFill>
          <a:ln w="12700">
            <a:solidFill>
              <a:srgbClr val="2ED3D0">
                <a:alpha val="70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431596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SEGFORMER3D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084832" y="4315968"/>
            <a:ext cx="1417320" cy="292608"/>
          </a:xfrm>
          <a:prstGeom prst="roundRect">
            <a:avLst/>
          </a:prstGeom>
          <a:solidFill>
            <a:srgbClr val="3D85F7">
              <a:alpha val="20000"/>
            </a:srgbClr>
          </a:solidFill>
          <a:ln w="12700">
            <a:solidFill>
              <a:srgbClr val="3D85F7">
                <a:alpha val="7000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084832" y="43159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8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UNCERTAINTY QC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657600" y="4315968"/>
            <a:ext cx="1234440" cy="292608"/>
          </a:xfrm>
          <a:prstGeom prst="roundRect">
            <a:avLst/>
          </a:prstGeom>
          <a:solidFill>
            <a:srgbClr val="63D297">
              <a:alpha val="20000"/>
            </a:srgbClr>
          </a:solidFill>
          <a:ln w="12700">
            <a:solidFill>
              <a:srgbClr val="63D297">
                <a:alpha val="70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57600" y="43159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D2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PHYSICAL 3D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" y="609904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F8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全球校园人工智能算法精英大赛 · 智青春·算未来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004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WHY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真正的痛点不是“有没有更多课件”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530352" y="122529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而是学生很难把二维 CT 切片、连续层面变化与三维骨结构真正对应起来</a:t>
            </a:r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2423160" cy="2103120"/>
          </a:xfrm>
          <a:prstGeom prst="roundRect">
            <a:avLst>
              <a:gd name="adj" fmla="val 6087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128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51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二维认知断层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777240" y="32461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单层切片易看懂</a:t>
            </a:r>
          </a:p>
          <a:p>
            <a:r>
              <a:t>连续空间难建立</a:t>
            </a:r>
          </a:p>
        </p:txBody>
      </p:sp>
      <p:sp>
        <p:nvSpPr>
          <p:cNvPr id="9" name="Shape 7"/>
          <p:cNvSpPr/>
          <p:nvPr/>
        </p:nvSpPr>
        <p:spPr>
          <a:xfrm>
            <a:off x="3447288" y="2011680"/>
            <a:ext cx="2423160" cy="2103120"/>
          </a:xfrm>
          <a:prstGeom prst="roundRect">
            <a:avLst>
              <a:gd name="adj" fmla="val 6087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30168" y="22128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630168" y="2651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提示两难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3630168" y="32461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直接给答案太早</a:t>
            </a:r>
          </a:p>
          <a:p>
            <a:r>
              <a:t>完全不提示又易卡住</a:t>
            </a:r>
          </a:p>
        </p:txBody>
      </p:sp>
      <p:sp>
        <p:nvSpPr>
          <p:cNvPr id="13" name="Shape 11"/>
          <p:cNvSpPr/>
          <p:nvPr/>
        </p:nvSpPr>
        <p:spPr>
          <a:xfrm>
            <a:off x="6300216" y="2011680"/>
            <a:ext cx="2423160" cy="2103120"/>
          </a:xfrm>
          <a:prstGeom prst="roundRect">
            <a:avLst>
              <a:gd name="adj" fmla="val 6087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83096" y="22128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83096" y="2651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练习难复盘</a:t>
            </a:r>
          </a:p>
        </p:txBody>
      </p:sp>
      <p:sp>
        <p:nvSpPr>
          <p:cNvPr id="16" name="Text 14"/>
          <p:cNvSpPr txBox="1"/>
          <p:nvPr/>
        </p:nvSpPr>
        <p:spPr>
          <a:xfrm>
            <a:off x="6483096" y="32461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答错后缺少</a:t>
            </a:r>
          </a:p>
          <a:p>
            <a:r>
              <a:t>回到真实影像核验路径</a:t>
            </a:r>
          </a:p>
        </p:txBody>
      </p:sp>
      <p:sp>
        <p:nvSpPr>
          <p:cNvPr id="17" name="Shape 15"/>
          <p:cNvSpPr/>
          <p:nvPr/>
        </p:nvSpPr>
        <p:spPr>
          <a:xfrm>
            <a:off x="9153144" y="2011680"/>
            <a:ext cx="2423160" cy="2103120"/>
          </a:xfrm>
          <a:prstGeom prst="roundRect">
            <a:avLst>
              <a:gd name="adj" fmla="val 6087"/>
            </a:avLst>
          </a:prstGeom>
          <a:solidFill>
            <a:srgbClr val="11283A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36024" y="22128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336024" y="2651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空间关系抽象</a:t>
            </a:r>
          </a:p>
        </p:txBody>
      </p:sp>
      <p:sp>
        <p:nvSpPr>
          <p:cNvPr id="20" name="Text 18"/>
          <p:cNvSpPr txBox="1"/>
          <p:nvPr/>
        </p:nvSpPr>
        <p:spPr>
          <a:xfrm>
            <a:off x="9336024" y="32461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教材静态图有限</a:t>
            </a:r>
          </a:p>
          <a:p>
            <a:r>
              <a:t>难形成三维直觉</a:t>
            </a:r>
          </a:p>
        </p:txBody>
      </p:sp>
      <p:sp>
        <p:nvSpPr>
          <p:cNvPr id="21" name="Text 19"/>
          <p:cNvSpPr txBox="1"/>
          <p:nvPr/>
        </p:nvSpPr>
        <p:spPr>
          <a:xfrm>
            <a:off x="749808" y="473659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我们的目标：让学生先自主判断，再按需调用 AI 提示、Prediction、MPR 与 3D 完成核验和纠错。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004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SOLUTION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一套围绕“自主观察 → AI提示 → 空间核验 → 纠错复盘”的教学实验平台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2121408"/>
            <a:ext cx="1993392" cy="1874520"/>
          </a:xfrm>
          <a:prstGeom prst="roundRect">
            <a:avLst>
              <a:gd name="adj" fmla="val 6829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23134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276148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真实CT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667512" y="3246120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先观察 / 定位</a:t>
            </a:r>
          </a:p>
        </p:txBody>
      </p:sp>
      <p:sp>
        <p:nvSpPr>
          <p:cNvPr id="8" name="Shape 6"/>
          <p:cNvSpPr/>
          <p:nvPr/>
        </p:nvSpPr>
        <p:spPr>
          <a:xfrm>
            <a:off x="2514600" y="2770632"/>
            <a:ext cx="292608" cy="475488"/>
          </a:xfrm>
          <a:prstGeom prst="chevron">
            <a:avLst/>
          </a:prstGeom>
          <a:solidFill>
            <a:srgbClr val="2ED3D0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2121408"/>
            <a:ext cx="1993392" cy="1874520"/>
          </a:xfrm>
          <a:prstGeom prst="roundRect">
            <a:avLst>
              <a:gd name="adj" fmla="val 6829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99232" y="23134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999232" y="276148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SegFormer3D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2999232" y="3246120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真实 Prediction</a:t>
            </a:r>
          </a:p>
        </p:txBody>
      </p:sp>
      <p:sp>
        <p:nvSpPr>
          <p:cNvPr id="13" name="Shape 11"/>
          <p:cNvSpPr/>
          <p:nvPr/>
        </p:nvSpPr>
        <p:spPr>
          <a:xfrm>
            <a:off x="4846320" y="2770632"/>
            <a:ext cx="292608" cy="475488"/>
          </a:xfrm>
          <a:prstGeom prst="chevron">
            <a:avLst/>
          </a:prstGeom>
          <a:solidFill>
            <a:srgbClr val="2ED3D0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6360" y="2121408"/>
            <a:ext cx="1993392" cy="1874520"/>
          </a:xfrm>
          <a:prstGeom prst="roundRect">
            <a:avLst>
              <a:gd name="adj" fmla="val 6829"/>
            </a:avLst>
          </a:prstGeom>
          <a:solidFill>
            <a:srgbClr val="103249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30952" y="23134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330952" y="276148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分级提示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5330952" y="3246120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从方向提示到AI参考</a:t>
            </a:r>
          </a:p>
        </p:txBody>
      </p:sp>
      <p:sp>
        <p:nvSpPr>
          <p:cNvPr id="18" name="Shape 16"/>
          <p:cNvSpPr/>
          <p:nvPr/>
        </p:nvSpPr>
        <p:spPr>
          <a:xfrm>
            <a:off x="7178040" y="2770632"/>
            <a:ext cx="292608" cy="475488"/>
          </a:xfrm>
          <a:prstGeom prst="chevron">
            <a:avLst/>
          </a:prstGeom>
          <a:solidFill>
            <a:srgbClr val="2ED3D0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2121408"/>
            <a:ext cx="1993392" cy="1874520"/>
          </a:xfrm>
          <a:prstGeom prst="roundRect">
            <a:avLst>
              <a:gd name="adj" fmla="val 6829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62672" y="23134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662672" y="276148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MPR + 3D</a:t>
            </a:r>
          </a:p>
        </p:txBody>
      </p:sp>
      <p:sp>
        <p:nvSpPr>
          <p:cNvPr id="22" name="Text 20"/>
          <p:cNvSpPr txBox="1"/>
          <p:nvPr/>
        </p:nvSpPr>
        <p:spPr>
          <a:xfrm>
            <a:off x="7662672" y="3246120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二维回到三维空间</a:t>
            </a:r>
          </a:p>
        </p:txBody>
      </p:sp>
      <p:sp>
        <p:nvSpPr>
          <p:cNvPr id="23" name="Shape 21"/>
          <p:cNvSpPr/>
          <p:nvPr/>
        </p:nvSpPr>
        <p:spPr>
          <a:xfrm>
            <a:off x="9509760" y="2770632"/>
            <a:ext cx="292608" cy="475488"/>
          </a:xfrm>
          <a:prstGeom prst="chevron">
            <a:avLst/>
          </a:prstGeom>
          <a:solidFill>
            <a:srgbClr val="2ED3D0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29800" y="2121408"/>
            <a:ext cx="1993392" cy="1874520"/>
          </a:xfrm>
          <a:prstGeom prst="roundRect">
            <a:avLst>
              <a:gd name="adj" fmla="val 6829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94392" y="23134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994392" y="276148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教学实验台</a:t>
            </a:r>
          </a:p>
        </p:txBody>
      </p:sp>
      <p:sp>
        <p:nvSpPr>
          <p:cNvPr id="27" name="Text 25"/>
          <p:cNvSpPr txBox="1"/>
          <p:nvPr/>
        </p:nvSpPr>
        <p:spPr>
          <a:xfrm>
            <a:off x="9994392" y="3246120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连续切片 / 练习 / 复盘</a:t>
            </a:r>
          </a:p>
        </p:txBody>
      </p:sp>
      <p:sp>
        <p:nvSpPr>
          <p:cNvPr id="28" name="Shape 26"/>
          <p:cNvSpPr/>
          <p:nvPr/>
        </p:nvSpPr>
        <p:spPr>
          <a:xfrm>
            <a:off x="960120" y="4681728"/>
            <a:ext cx="2148840" cy="1051560"/>
          </a:xfrm>
          <a:prstGeom prst="roundRect">
            <a:avLst>
              <a:gd name="adj" fmla="val 12174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24712" y="4818888"/>
            <a:ext cx="18196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807</a:t>
            </a:r>
            <a:endParaRPr lang="en-US" sz="2500" dirty="0"/>
          </a:p>
        </p:txBody>
      </p:sp>
      <p:sp>
        <p:nvSpPr>
          <p:cNvPr id="30" name="Text 28"/>
          <p:cNvSpPr txBox="1"/>
          <p:nvPr/>
        </p:nvSpPr>
        <p:spPr>
          <a:xfrm>
            <a:off x="1124712" y="5303520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CTSpine1K 开发病例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56432" y="4681728"/>
            <a:ext cx="2148840" cy="1051560"/>
          </a:xfrm>
          <a:prstGeom prst="roundRect">
            <a:avLst>
              <a:gd name="adj" fmla="val 12174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621024" y="4818888"/>
            <a:ext cx="18196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610 / 197</a:t>
            </a:r>
            <a:endParaRPr lang="en-US" sz="2500" dirty="0"/>
          </a:p>
        </p:txBody>
      </p:sp>
      <p:sp>
        <p:nvSpPr>
          <p:cNvPr id="33" name="Text 31"/>
          <p:cNvSpPr txBox="1"/>
          <p:nvPr/>
        </p:nvSpPr>
        <p:spPr>
          <a:xfrm>
            <a:off x="3621024" y="5303520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 / Validation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52744" y="4681728"/>
            <a:ext cx="2148840" cy="1051560"/>
          </a:xfrm>
          <a:prstGeom prst="roundRect">
            <a:avLst>
              <a:gd name="adj" fmla="val 12174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117336" y="4818888"/>
            <a:ext cx="18196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D8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0.7933</a:t>
            </a:r>
            <a:endParaRPr lang="en-US" sz="2500" dirty="0"/>
          </a:p>
        </p:txBody>
      </p:sp>
      <p:sp>
        <p:nvSpPr>
          <p:cNvPr id="36" name="Text 34"/>
          <p:cNvSpPr txBox="1"/>
          <p:nvPr/>
        </p:nvSpPr>
        <p:spPr>
          <a:xfrm>
            <a:off x="6117336" y="5303520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v7 Full-volume Dice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449056" y="4681728"/>
            <a:ext cx="2148840" cy="1051560"/>
          </a:xfrm>
          <a:prstGeom prst="roundRect">
            <a:avLst>
              <a:gd name="adj" fmla="val 12174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613648" y="4818888"/>
            <a:ext cx="18196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63D2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+ 3D</a:t>
            </a:r>
            <a:endParaRPr lang="en-US" sz="2500" dirty="0"/>
          </a:p>
        </p:txBody>
      </p:sp>
      <p:sp>
        <p:nvSpPr>
          <p:cNvPr id="39" name="Text 37"/>
          <p:cNvSpPr txBox="1"/>
          <p:nvPr/>
        </p:nvSpPr>
        <p:spPr>
          <a:xfrm>
            <a:off x="8613648" y="5303520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可交互教学闭环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004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ARCHITECTURE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技术底座服务教学目标：每一层都转化为学生可感知的学习能力</a:t>
            </a:r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0972800" cy="594360"/>
          </a:xfrm>
          <a:prstGeom prst="roundRect">
            <a:avLst>
              <a:gd name="adj" fmla="val 21538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842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数据层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1874520" y="19842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 / spacing / affine / label / QC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89320" y="198424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保证真实CT与空间坐标可信</a:t>
            </a:r>
          </a:p>
        </p:txBody>
      </p:sp>
      <p:sp>
        <p:nvSpPr>
          <p:cNvPr id="8" name="Shape 6"/>
          <p:cNvSpPr/>
          <p:nvPr/>
        </p:nvSpPr>
        <p:spPr>
          <a:xfrm>
            <a:off x="566928" y="2624328"/>
            <a:ext cx="10972800" cy="594360"/>
          </a:xfrm>
          <a:prstGeom prst="roundRect">
            <a:avLst>
              <a:gd name="adj" fmla="val 21538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73405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算法层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1874520" y="27340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SegFormer3D Encoder + HR 3D Decoder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273405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生成三维骨结构 Prediction</a:t>
            </a:r>
          </a:p>
        </p:txBody>
      </p:sp>
      <p:sp>
        <p:nvSpPr>
          <p:cNvPr id="12" name="Shape 10"/>
          <p:cNvSpPr/>
          <p:nvPr/>
        </p:nvSpPr>
        <p:spPr>
          <a:xfrm>
            <a:off x="566928" y="3374136"/>
            <a:ext cx="10972800" cy="594360"/>
          </a:xfrm>
          <a:prstGeom prst="roundRect">
            <a:avLst>
              <a:gd name="adj" fmla="val 21538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48386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可信层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1874520" y="348386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Full-volume metrics / Uncertainty / Components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348386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为提示与复核提供质量边界</a:t>
            </a:r>
          </a:p>
        </p:txBody>
      </p:sp>
      <p:sp>
        <p:nvSpPr>
          <p:cNvPr id="16" name="Shape 14"/>
          <p:cNvSpPr/>
          <p:nvPr/>
        </p:nvSpPr>
        <p:spPr>
          <a:xfrm>
            <a:off x="566928" y="4123944"/>
            <a:ext cx="10972800" cy="594360"/>
          </a:xfrm>
          <a:prstGeom prst="roundRect">
            <a:avLst>
              <a:gd name="adj" fmla="val 21538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23367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三维层</a:t>
            </a:r>
          </a:p>
        </p:txBody>
      </p:sp>
      <p:sp>
        <p:nvSpPr>
          <p:cNvPr id="18" name="Text 16"/>
          <p:cNvSpPr txBox="1"/>
          <p:nvPr/>
        </p:nvSpPr>
        <p:spPr>
          <a:xfrm>
            <a:off x="1874520" y="423367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Marching Cubes / Simplification / SDF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989320" y="423367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把分割结果还原到物理空间</a:t>
            </a:r>
          </a:p>
        </p:txBody>
      </p:sp>
      <p:sp>
        <p:nvSpPr>
          <p:cNvPr id="20" name="Shape 18"/>
          <p:cNvSpPr/>
          <p:nvPr/>
        </p:nvSpPr>
        <p:spPr>
          <a:xfrm>
            <a:off x="566928" y="4873752"/>
            <a:ext cx="10972800" cy="594360"/>
          </a:xfrm>
          <a:prstGeom prst="roundRect">
            <a:avLst>
              <a:gd name="adj" fmla="val 21538"/>
            </a:avLst>
          </a:prstGeom>
          <a:solidFill>
            <a:srgbClr val="0E2C3F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9834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教学应用层</a:t>
            </a:r>
          </a:p>
        </p:txBody>
      </p:sp>
      <p:sp>
        <p:nvSpPr>
          <p:cNvPr id="22" name="Text 20"/>
          <p:cNvSpPr txBox="1"/>
          <p:nvPr/>
        </p:nvSpPr>
        <p:spPr>
          <a:xfrm>
            <a:off x="1874520" y="498348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AI提示 / 连续切片 / MPR / 3D</a:t>
            </a:r>
          </a:p>
        </p:txBody>
      </p:sp>
      <p:sp>
        <p:nvSpPr>
          <p:cNvPr id="23" name="Text 21"/>
          <p:cNvSpPr txBox="1"/>
          <p:nvPr/>
        </p:nvSpPr>
        <p:spPr>
          <a:xfrm>
            <a:off x="5989320" y="498348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教师演示、学生实验与自主学习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004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DATA DISCIPLINE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807 例不是“堆数据”，而是严格的数据工程与实验边界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22529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CTSpine1K 大规模开发主线 · patient-level split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1792" y="1828800"/>
            <a:ext cx="2286000" cy="1051560"/>
          </a:xfrm>
          <a:prstGeom prst="roundRect">
            <a:avLst>
              <a:gd name="adj" fmla="val 12174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965960"/>
            <a:ext cx="1956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807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450592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开发集病例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82112" y="1828800"/>
            <a:ext cx="2286000" cy="1051560"/>
          </a:xfrm>
          <a:prstGeom prst="roundRect">
            <a:avLst>
              <a:gd name="adj" fmla="val 12174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46704" y="1965960"/>
            <a:ext cx="1956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610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3346704" y="2450592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训练集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42432" y="1828800"/>
            <a:ext cx="2286000" cy="1051560"/>
          </a:xfrm>
          <a:prstGeom prst="roundRect">
            <a:avLst>
              <a:gd name="adj" fmla="val 12174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07024" y="1965960"/>
            <a:ext cx="1956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D8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197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5907024" y="2450592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验证集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02752" y="1828800"/>
            <a:ext cx="2286000" cy="1051560"/>
          </a:xfrm>
          <a:prstGeom prst="roundRect">
            <a:avLst>
              <a:gd name="adj" fmla="val 12174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67344" y="1965960"/>
            <a:ext cx="1956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63D2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8467344" y="2450592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test 使用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" y="3310128"/>
            <a:ext cx="5212080" cy="1965960"/>
          </a:xfrm>
          <a:prstGeom prst="roundRect">
            <a:avLst>
              <a:gd name="adj" fmla="val 6512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392" y="35295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医学影像几何门禁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" y="4005072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spacing / affine / shape 一致性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label 最近邻处理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缓存与 QC 审计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病例级划分，避免患者信息泄漏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62472" y="3310128"/>
            <a:ext cx="5440680" cy="1965960"/>
          </a:xfrm>
          <a:prstGeom prst="roundRect">
            <a:avLst>
              <a:gd name="adj" fmla="val 6512"/>
            </a:avLst>
          </a:prstGeom>
          <a:solidFill>
            <a:srgbClr val="102B3D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09360" y="35295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3D2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 sealed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4005072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当前大规模阶段 test_private / test198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未读取、未评估、未参与阈值搜索。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 0.7933 等主结果均明确标注为 validation197 full-volume。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004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CORE MODEL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 SegFormer3D：三维空间 + 多尺度语义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22529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不是模型名字本身，而是它为骨科CT适配提供了正确骨架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4389120" cy="502920"/>
          </a:xfrm>
          <a:prstGeom prst="roundRect">
            <a:avLst/>
          </a:prstGeom>
          <a:solidFill>
            <a:srgbClr val="3D85F7">
              <a:alpha val="88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194767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 · 高分辨率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3657600" cy="502920"/>
          </a:xfrm>
          <a:prstGeom prst="roundRect">
            <a:avLst/>
          </a:prstGeom>
          <a:solidFill>
            <a:srgbClr val="3D85F7">
              <a:alpha val="88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27706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 · 中尺度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520440"/>
            <a:ext cx="3017520" cy="502920"/>
          </a:xfrm>
          <a:prstGeom prst="roundRect">
            <a:avLst/>
          </a:prstGeom>
          <a:solidFill>
            <a:srgbClr val="102B3D"/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35935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C3 · 深层语义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343400"/>
            <a:ext cx="2377440" cy="502920"/>
          </a:xfrm>
          <a:prstGeom prst="roundRect">
            <a:avLst/>
          </a:prstGeom>
          <a:solidFill>
            <a:srgbClr val="102B3D"/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441655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C4 · 全局上下文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0" y="2880360"/>
            <a:ext cx="640080" cy="914400"/>
          </a:xfrm>
          <a:prstGeom prst="chevron">
            <a:avLst/>
          </a:prstGeom>
          <a:solidFill>
            <a:srgbClr val="2ED3D0">
              <a:alpha val="9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1938528"/>
            <a:ext cx="4663440" cy="2971800"/>
          </a:xfrm>
          <a:prstGeom prst="roundRect">
            <a:avLst>
              <a:gd name="adj" fmla="val 4308"/>
            </a:avLst>
          </a:prstGeom>
          <a:solidFill>
            <a:srgbClr val="0D2838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84848" y="231343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High-Resolution 3D Decoder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6784848" y="2971800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多尺度融合 + 浅层空间分支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恢复细薄边界与局部骨结构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Full-volume sliding window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最终必须在完整CT体积上接受验证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3035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2D逐切片易弱化Z轴上下文；3D模型直接学习三轴空间连续性，并自然衔接三维重建。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004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MODEL INNOVATION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我们自己的工作：让模型围绕真实失败模式持续进化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5349240" cy="1508760"/>
          </a:xfrm>
          <a:prstGeom prst="roundRect">
            <a:avLst>
              <a:gd name="adj" fmla="val 8485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99339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99339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 3D Decoder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459736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多尺度 C1/C2/C3/C4 融合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恢复空间细节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349240" cy="1508760"/>
          </a:xfrm>
          <a:prstGeom prst="roundRect">
            <a:avLst>
              <a:gd name="adj" fmla="val 8485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55080" y="199339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885432" y="199339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 Spatial Branch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885432" y="2459736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浅层空间信息直接参与解码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增强骨结构边界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3858768"/>
            <a:ext cx="5349240" cy="1508760"/>
          </a:xfrm>
          <a:prstGeom prst="roundRect">
            <a:avLst>
              <a:gd name="adj" fmla="val 8485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402336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0233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Hard-negative Precision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489704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 full-volume 假阳性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从“高召回”转向平衡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858768"/>
            <a:ext cx="5349240" cy="1508760"/>
          </a:xfrm>
          <a:prstGeom prst="roundRect">
            <a:avLst>
              <a:gd name="adj" fmla="val 8485"/>
            </a:avLst>
          </a:prstGeom>
          <a:solidFill>
            <a:srgbClr val="113348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402336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885432" y="40233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Residual FP Guidance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885432" y="4489704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只用 train610 残余假阳性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形成困难区域反馈闭环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004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OPTIMIZATION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不是流水账：每一代都由 full-volume 失败模式驱动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938528"/>
            <a:ext cx="3246120" cy="2743200"/>
          </a:xfrm>
          <a:prstGeom prst="roundRect">
            <a:avLst>
              <a:gd name="adj" fmla="val 4667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21284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v6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697480" y="2240280"/>
            <a:ext cx="868680" cy="292608"/>
          </a:xfrm>
          <a:prstGeom prst="roundRect">
            <a:avLst/>
          </a:prstGeom>
          <a:solidFill>
            <a:srgbClr val="3D85F7">
              <a:alpha val="20000"/>
            </a:srgbClr>
          </a:solidFill>
          <a:ln w="12700">
            <a:solidFill>
              <a:srgbClr val="3D85F7">
                <a:alpha val="7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97480" y="22402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8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292608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Recall 0.8686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 Precision 0.3434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FG ratio 3.7127×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78224" y="2880360"/>
            <a:ext cx="347472" cy="566928"/>
          </a:xfrm>
          <a:prstGeom prst="chevron">
            <a:avLst/>
          </a:prstGeom>
          <a:solidFill>
            <a:srgbClr val="2ED3D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07992" y="1938528"/>
            <a:ext cx="3246120" cy="2743200"/>
          </a:xfrm>
          <a:prstGeom prst="roundRect">
            <a:avLst>
              <a:gd name="adj" fmla="val 4667"/>
            </a:avLst>
          </a:prstGeom>
          <a:solidFill>
            <a:srgbClr val="10344A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36592" y="221284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v7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73952" y="2240280"/>
            <a:ext cx="868680" cy="292608"/>
          </a:xfrm>
          <a:prstGeom prst="roundRect">
            <a:avLst/>
          </a:prstGeom>
          <a:solidFill>
            <a:srgbClr val="63D297">
              <a:alpha val="20000"/>
            </a:srgbClr>
          </a:solidFill>
          <a:ln w="12700">
            <a:solidFill>
              <a:srgbClr val="63D297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73952" y="22402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D2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764024" y="292608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Hard-negative precision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Dice 0.7933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Precision 0.7862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54696" y="2880360"/>
            <a:ext cx="347472" cy="566928"/>
          </a:xfrm>
          <a:prstGeom prst="chevron">
            <a:avLst/>
          </a:prstGeom>
          <a:solidFill>
            <a:srgbClr val="2ED3D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84464" y="1938528"/>
            <a:ext cx="3246120" cy="2743200"/>
          </a:xfrm>
          <a:prstGeom prst="roundRect">
            <a:avLst>
              <a:gd name="adj" fmla="val 4667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13064" y="221284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v7.1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0250424" y="2240280"/>
            <a:ext cx="868680" cy="292608"/>
          </a:xfrm>
          <a:prstGeom prst="roundRect">
            <a:avLst/>
          </a:prstGeom>
          <a:solidFill>
            <a:srgbClr val="3D85F7">
              <a:alpha val="20000"/>
            </a:srgbClr>
          </a:solidFill>
          <a:ln w="12700">
            <a:solidFill>
              <a:srgbClr val="3D85F7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250424" y="22402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8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精修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540496" y="292608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Residual false-positive</a:t>
            </a:r>
          </a:p>
          <a:p>
            <a:r>
              <a:t>train-only guidance</a:t>
            </a:r>
          </a:p>
          <a:p>
            <a:r>
              <a:t>已完成但未超过 v7</a:t>
            </a:r>
          </a:p>
        </p:txBody>
      </p:sp>
      <p:sp>
        <p:nvSpPr>
          <p:cNvPr id="21" name="Text 19"/>
          <p:cNvSpPr txBox="1"/>
          <p:nvPr/>
        </p:nvSpPr>
        <p:spPr>
          <a:xfrm>
            <a:off x="731520" y="519379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FINAL：v7.1 已完成 197/197 full-volume 验证但综合表现低于 v7；正式工程模型冻结为 v7，训练线关闭。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004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RESULTS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v7：从“过预测”到更平衡的全体积分割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22529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 validation197 · full-volume · 197 cases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2468880" cy="1051560"/>
          </a:xfrm>
          <a:prstGeom prst="roundRect">
            <a:avLst>
              <a:gd name="adj" fmla="val 12174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1920240"/>
            <a:ext cx="21396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0.7933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40487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73552" y="1783080"/>
            <a:ext cx="2468880" cy="1051560"/>
          </a:xfrm>
          <a:prstGeom prst="roundRect">
            <a:avLst>
              <a:gd name="adj" fmla="val 12174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38144" y="1920240"/>
            <a:ext cx="21396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D8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0.7862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3438144" y="240487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52744" y="1783080"/>
            <a:ext cx="2468880" cy="1051560"/>
          </a:xfrm>
          <a:prstGeom prst="roundRect">
            <a:avLst>
              <a:gd name="adj" fmla="val 12174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17336" y="1920240"/>
            <a:ext cx="21396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63D2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0.8245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6117336" y="240487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Recall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31936" y="1783080"/>
            <a:ext cx="2468880" cy="1051560"/>
          </a:xfrm>
          <a:prstGeom prst="roundRect">
            <a:avLst>
              <a:gd name="adj" fmla="val 12174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96528" y="1920240"/>
            <a:ext cx="21396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0.7347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8796528" y="240487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IoU</a:t>
            </a:r>
            <a:endParaRPr lang="en-US" sz="10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58368" y="3154680"/>
          <a:ext cx="56235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6583680" y="3154680"/>
            <a:ext cx="4892040" cy="2331720"/>
          </a:xfrm>
          <a:prstGeom prst="roundRect">
            <a:avLst>
              <a:gd name="adj" fmla="val 5490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0" y="34015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表面误差同步下降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0" y="3950208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HD95    166.10 → 37.95 mm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ASSD      38.33 → 8.81 mm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FG ratio   3.7127× → 1.6849×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Component error   ~1803 → 1.15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004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VISUAL EVIDENCE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真实 AI 结果进入教学界面，不是静态示意图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530352" y="122529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同一病例中的 Raw CT、Prediction 与空间工具来自真实工程产物</a:t>
            </a:r>
          </a:p>
        </p:txBody>
      </p:sp>
      <p:pic>
        <p:nvPicPr>
          <p:cNvPr id="5" name="Image 0" descr="D:/AIC比赛/assets_final/02_results_2880x18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691640"/>
            <a:ext cx="11018520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5742432"/>
            <a:ext cx="1920240" cy="292608"/>
          </a:xfrm>
          <a:prstGeom prst="roundRect">
            <a:avLst/>
          </a:prstGeom>
          <a:solidFill>
            <a:srgbClr val="63D297">
              <a:alpha val="20000"/>
            </a:srgbClr>
          </a:solidFill>
          <a:ln w="12700">
            <a:solidFill>
              <a:srgbClr val="63D297">
                <a:alpha val="70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57424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D2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 PROJECT · 2880×1800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004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TRUSTWORTHY AI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AI 不替学生作答，而是在需要时逐级提供可核验的影像参照</a:t>
            </a:r>
          </a:p>
        </p:txBody>
      </p:sp>
      <p:pic>
        <p:nvPicPr>
          <p:cNvPr id="4" name="Image 0" descr="D:/AIC比赛/assets_final/03_uncertainty_2880x18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664208"/>
            <a:ext cx="7543800" cy="43525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94192" y="1664208"/>
            <a:ext cx="3200400" cy="4352544"/>
          </a:xfrm>
          <a:prstGeom prst="roundRect">
            <a:avLst>
              <a:gd name="adj" fmla="val 4000"/>
            </a:avLst>
          </a:prstGeom>
          <a:solidFill>
            <a:srgbClr val="10283A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68512" y="2011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Prediction / Uncertainty → 教学支架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8668512" y="2697480"/>
            <a:ext cx="24871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01  学生先在 Raw CT 自主观察</a:t>
            </a:r>
          </a:p>
          <a:p/>
          <a:p>
            <a:r>
              <a:t>02  困难时逐级查看方向提示与 Prediction</a:t>
            </a:r>
          </a:p>
          <a:p/>
          <a:p>
            <a:r>
              <a:t>03  再用三平面、连续切片和 3D 回到真实空间核验</a:t>
            </a:r>
          </a:p>
        </p:txBody>
      </p:sp>
      <p:sp>
        <p:nvSpPr>
          <p:cNvPr id="8" name="Text 5"/>
          <p:cNvSpPr txBox="1"/>
          <p:nvPr/>
        </p:nvSpPr>
        <p:spPr>
          <a:xfrm>
            <a:off x="8668512" y="498348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AI参考 ≠ 临床诊断；教学提示 ≠ 学生能力自动评分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004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PHYSICAL 3D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从 voxel prediction 到可操作的三维空间认知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530352" y="122529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Marching Cubes · Mesh simplification · SDF · WebGL2</a:t>
            </a:r>
            <a:endParaRPr lang="en-US" sz="1300" dirty="0"/>
          </a:p>
        </p:txBody>
      </p:sp>
      <p:pic>
        <p:nvPicPr>
          <p:cNvPr id="5" name="Image 0" descr="D:/AIC比赛/assets_final/05_sdf3d_2880x18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627632"/>
            <a:ext cx="781812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22792" y="1627632"/>
            <a:ext cx="2971800" cy="4526280"/>
          </a:xfrm>
          <a:prstGeom prst="roundRect">
            <a:avLst>
              <a:gd name="adj" fmla="val 4308"/>
            </a:avLst>
          </a:prstGeom>
          <a:solidFill>
            <a:srgbClr val="0D2838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897112" y="19933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不是“好看的3D图”</a:t>
            </a:r>
          </a:p>
        </p:txBody>
      </p:sp>
      <p:sp>
        <p:nvSpPr>
          <p:cNvPr id="8" name="Text 5"/>
          <p:cNvSpPr txBox="1"/>
          <p:nvPr/>
        </p:nvSpPr>
        <p:spPr>
          <a:xfrm>
            <a:off x="8897112" y="260604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spacing / origin / direction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physical-space mesh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GT / prediction 切换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Mask / SDF 切换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旋转 / 缩放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物理坐标距离 / 角度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897112" y="5166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目标：让二维判断回到真实三维空间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004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PRODUCT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把算法变成医学生可以直接操作的 AI 教学实验台</a:t>
            </a:r>
          </a:p>
        </p:txBody>
      </p:sp>
      <p:pic>
        <p:nvPicPr>
          <p:cNvPr id="4" name="Image 0" descr="D:/AIC比赛/assets_final/01_home_2880x18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645920"/>
            <a:ext cx="5257800" cy="4352544"/>
          </a:xfrm>
          <a:prstGeom prst="rect">
            <a:avLst/>
          </a:prstGeom>
        </p:spPr>
      </p:pic>
      <p:pic>
        <p:nvPicPr>
          <p:cNvPr id="5" name="Image 1" descr="D:/AIC比赛/assets_final/02_results_2880x18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312" y="1645920"/>
            <a:ext cx="2651760" cy="2057400"/>
          </a:xfrm>
          <a:prstGeom prst="rect">
            <a:avLst/>
          </a:prstGeom>
        </p:spPr>
      </p:pic>
      <p:pic>
        <p:nvPicPr>
          <p:cNvPr id="6" name="Image 2" descr="D:/AIC比赛/assets_final/04_research3d_2880x18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232" y="1645920"/>
            <a:ext cx="2651760" cy="20574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925312" y="3931920"/>
            <a:ext cx="5440680" cy="2066544"/>
          </a:xfrm>
          <a:prstGeom prst="roundRect">
            <a:avLst>
              <a:gd name="adj" fmla="val 6195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6199632" y="4187952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同一病例，一条学习闭环</a:t>
            </a:r>
          </a:p>
        </p:txBody>
      </p:sp>
      <p:sp>
        <p:nvSpPr>
          <p:cNvPr id="9" name="Text 4"/>
          <p:cNvSpPr txBox="1"/>
          <p:nvPr/>
        </p:nvSpPr>
        <p:spPr>
          <a:xfrm>
            <a:off x="6199632" y="468172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Raw CT：先自主观察与定位</a:t>
            </a:r>
          </a:p>
          <a:p>
            <a:r>
              <a:t>AI Prediction：按需提供结构参照</a:t>
            </a:r>
          </a:p>
          <a:p>
            <a:r>
              <a:t>MPR + 连续切片：核验空间连续性</a:t>
            </a:r>
          </a:p>
          <a:p>
            <a:r>
              <a:t>3D：建立上下、前后、左右关系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004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DEMO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评委 90 秒体验 AI 怎样参与教学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530352" y="122529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不看训练命令，直接看学生如何使用真实AI结果</a:t>
            </a:r>
          </a:p>
        </p:txBody>
      </p:sp>
      <p:sp>
        <p:nvSpPr>
          <p:cNvPr id="5" name="Shape 3"/>
          <p:cNvSpPr/>
          <p:nvPr/>
        </p:nvSpPr>
        <p:spPr>
          <a:xfrm>
            <a:off x="621792" y="1874520"/>
            <a:ext cx="2468880" cy="2880360"/>
          </a:xfrm>
          <a:prstGeom prst="roundRect">
            <a:avLst>
              <a:gd name="adj" fmla="val 5185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自主观察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822960" y="3310128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Raw CT 中先判断</a:t>
            </a:r>
          </a:p>
        </p:txBody>
      </p:sp>
      <p:sp>
        <p:nvSpPr>
          <p:cNvPr id="9" name="Shape 7"/>
          <p:cNvSpPr/>
          <p:nvPr/>
        </p:nvSpPr>
        <p:spPr>
          <a:xfrm>
            <a:off x="3127248" y="2990088"/>
            <a:ext cx="274320" cy="512064"/>
          </a:xfrm>
          <a:prstGeom prst="chevron">
            <a:avLst/>
          </a:prstGeom>
          <a:solidFill>
            <a:srgbClr val="2ED3D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874520"/>
            <a:ext cx="2468880" cy="2880360"/>
          </a:xfrm>
          <a:prstGeom prst="roundRect">
            <a:avLst>
              <a:gd name="adj" fmla="val 5185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75888" y="210312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675888" y="27432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分级提示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3675888" y="3310128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困难时再看 Prediction</a:t>
            </a:r>
          </a:p>
        </p:txBody>
      </p:sp>
      <p:sp>
        <p:nvSpPr>
          <p:cNvPr id="14" name="Shape 12"/>
          <p:cNvSpPr/>
          <p:nvPr/>
        </p:nvSpPr>
        <p:spPr>
          <a:xfrm>
            <a:off x="5980176" y="2990088"/>
            <a:ext cx="274320" cy="512064"/>
          </a:xfrm>
          <a:prstGeom prst="chevron">
            <a:avLst/>
          </a:prstGeom>
          <a:solidFill>
            <a:srgbClr val="2ED3D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27648" y="1874520"/>
            <a:ext cx="2468880" cy="2880360"/>
          </a:xfrm>
          <a:prstGeom prst="roundRect">
            <a:avLst>
              <a:gd name="adj" fmla="val 5185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28816" y="210312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28816" y="27432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空间核验</a:t>
            </a:r>
          </a:p>
        </p:txBody>
      </p:sp>
      <p:sp>
        <p:nvSpPr>
          <p:cNvPr id="18" name="Text 16"/>
          <p:cNvSpPr txBox="1"/>
          <p:nvPr/>
        </p:nvSpPr>
        <p:spPr>
          <a:xfrm>
            <a:off x="6528816" y="3310128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连续切片 · 三平面联动</a:t>
            </a:r>
          </a:p>
        </p:txBody>
      </p:sp>
      <p:sp>
        <p:nvSpPr>
          <p:cNvPr id="19" name="Shape 17"/>
          <p:cNvSpPr/>
          <p:nvPr/>
        </p:nvSpPr>
        <p:spPr>
          <a:xfrm>
            <a:off x="8833104" y="2990088"/>
            <a:ext cx="274320" cy="512064"/>
          </a:xfrm>
          <a:prstGeom prst="chevron">
            <a:avLst/>
          </a:prstGeom>
          <a:solidFill>
            <a:srgbClr val="2ED3D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80576" y="1874520"/>
            <a:ext cx="2468880" cy="2880360"/>
          </a:xfrm>
          <a:prstGeom prst="roundRect">
            <a:avLst>
              <a:gd name="adj" fmla="val 5185"/>
            </a:avLst>
          </a:prstGeom>
          <a:solidFill>
            <a:srgbClr val="10344A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81744" y="210312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381744" y="27432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三维理解</a:t>
            </a:r>
          </a:p>
        </p:txBody>
      </p:sp>
      <p:sp>
        <p:nvSpPr>
          <p:cNvPr id="23" name="Text 21"/>
          <p:cNvSpPr txBox="1"/>
          <p:nvPr/>
        </p:nvSpPr>
        <p:spPr>
          <a:xfrm>
            <a:off x="9381744" y="3310128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Prediction 3D · 纠错复盘</a:t>
            </a:r>
          </a:p>
        </p:txBody>
      </p:sp>
      <p:sp>
        <p:nvSpPr>
          <p:cNvPr id="24" name="Text 22"/>
          <p:cNvSpPr txBox="1"/>
          <p:nvPr/>
        </p:nvSpPr>
        <p:spPr>
          <a:xfrm>
            <a:off x="960120" y="5230368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现场演示读取真实 evaluation / prediction / GT；完整体积推理较慢时不伪造“实时 AI”。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004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INNOVATION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技术创新最终都落到教学能力上</a:t>
            </a:r>
          </a:p>
        </p:txBody>
      </p:sp>
      <p:sp>
        <p:nvSpPr>
          <p:cNvPr id="4" name="Shape 2"/>
          <p:cNvSpPr/>
          <p:nvPr/>
        </p:nvSpPr>
        <p:spPr>
          <a:xfrm>
            <a:off x="658368" y="1737360"/>
            <a:ext cx="10881360" cy="841248"/>
          </a:xfrm>
          <a:prstGeom prst="roundRect">
            <a:avLst>
              <a:gd name="adj" fmla="val 15217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9202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572768" y="187452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高分辨率 3D 骨结构分割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190195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SegFormer3D + HR Decoder + shallow spatial branch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2807208"/>
            <a:ext cx="10881360" cy="841248"/>
          </a:xfrm>
          <a:prstGeom prst="roundRect">
            <a:avLst>
              <a:gd name="adj" fmla="val 15217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" y="29900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572768" y="294436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Residual False-Positive 反馈闭环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97180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5B7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full-volume 残余错误反推 train-only 精修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3877056"/>
            <a:ext cx="10881360" cy="841248"/>
          </a:xfrm>
          <a:prstGeom prst="roundRect">
            <a:avLst>
              <a:gd name="adj" fmla="val 15217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05993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01421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AI 提示与可信边界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5669280" y="40416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Prediction / Uncertainty 不直接替学生作答</a:t>
            </a:r>
          </a:p>
        </p:txBody>
      </p:sp>
      <p:sp>
        <p:nvSpPr>
          <p:cNvPr id="16" name="Shape 14"/>
          <p:cNvSpPr/>
          <p:nvPr/>
        </p:nvSpPr>
        <p:spPr>
          <a:xfrm>
            <a:off x="658368" y="4946904"/>
            <a:ext cx="10881360" cy="841248"/>
          </a:xfrm>
          <a:prstGeom prst="roundRect">
            <a:avLst>
              <a:gd name="adj" fmla="val 15217"/>
            </a:avLst>
          </a:prstGeom>
          <a:solidFill>
            <a:srgbClr val="102E4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" y="512978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572768" y="508406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AI → Physical 3D → Teaching</a:t>
            </a:r>
          </a:p>
        </p:txBody>
      </p:sp>
      <p:sp>
        <p:nvSpPr>
          <p:cNvPr id="19" name="Text 17"/>
          <p:cNvSpPr txBox="1"/>
          <p:nvPr/>
        </p:nvSpPr>
        <p:spPr>
          <a:xfrm>
            <a:off x="5669280" y="5111496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把真实分割结果转化为空间认知教学支架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004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WHY IT FITS AIC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对齐官方评分点：AI 与医学影像教学深度适配</a:t>
            </a:r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5358384" cy="1042416"/>
          </a:xfrm>
          <a:prstGeom prst="roundRect">
            <a:avLst>
              <a:gd name="adj" fmla="val 12281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470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创新性 · 20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18288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4项核心创新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2203704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模型结构 + 困难样本 + AI提示 + 3D教学</a:t>
            </a:r>
          </a:p>
        </p:txBody>
      </p:sp>
      <p:sp>
        <p:nvSpPr>
          <p:cNvPr id="8" name="Shape 6"/>
          <p:cNvSpPr/>
          <p:nvPr/>
        </p:nvSpPr>
        <p:spPr>
          <a:xfrm>
            <a:off x="6181344" y="1719072"/>
            <a:ext cx="5358384" cy="1042416"/>
          </a:xfrm>
          <a:prstGeom prst="roundRect">
            <a:avLst>
              <a:gd name="adj" fmla="val 12281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64224" y="18470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 · 15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964424" y="18288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具体学科痛点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964424" y="2203704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医学生CT阅读与二维—三维认知</a:t>
            </a:r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5358384" cy="1042416"/>
          </a:xfrm>
          <a:prstGeom prst="roundRect">
            <a:avLst>
              <a:gd name="adj" fmla="val 12281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19125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可行性 · 20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31729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已运行系统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423160" y="3547872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冻结模型 + Web教学台 + 3D真实结果</a:t>
            </a:r>
          </a:p>
        </p:txBody>
      </p:sp>
      <p:sp>
        <p:nvSpPr>
          <p:cNvPr id="16" name="Shape 14"/>
          <p:cNvSpPr/>
          <p:nvPr/>
        </p:nvSpPr>
        <p:spPr>
          <a:xfrm>
            <a:off x="6181344" y="3063240"/>
            <a:ext cx="5358384" cy="1042416"/>
          </a:xfrm>
          <a:prstGeom prst="roundRect">
            <a:avLst>
              <a:gd name="adj" fmla="val 12281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64224" y="319125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项目实施 · 20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64424" y="31729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807例开发主线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964424" y="3547872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807例开发 + 固定split + full-volume验证</a:t>
            </a:r>
          </a:p>
        </p:txBody>
      </p:sp>
      <p:sp>
        <p:nvSpPr>
          <p:cNvPr id="20" name="Shape 18"/>
          <p:cNvSpPr/>
          <p:nvPr/>
        </p:nvSpPr>
        <p:spPr>
          <a:xfrm>
            <a:off x="640080" y="4407408"/>
            <a:ext cx="5358384" cy="1042416"/>
          </a:xfrm>
          <a:prstGeom prst="roundRect">
            <a:avLst>
              <a:gd name="adj" fmla="val 12281"/>
            </a:avLst>
          </a:prstGeom>
          <a:solidFill>
            <a:srgbClr val="113348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53542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应用效果 · 20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451713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真实模型 + 可操作教学闭环</a:t>
            </a:r>
          </a:p>
        </p:txBody>
      </p:sp>
      <p:sp>
        <p:nvSpPr>
          <p:cNvPr id="23" name="Text 21"/>
          <p:cNvSpPr txBox="1"/>
          <p:nvPr/>
        </p:nvSpPr>
        <p:spPr>
          <a:xfrm>
            <a:off x="2423160" y="4892040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v7指标 + AI提示/MPR/3D实际运行</a:t>
            </a:r>
          </a:p>
        </p:txBody>
      </p:sp>
      <p:sp>
        <p:nvSpPr>
          <p:cNvPr id="24" name="Shape 22"/>
          <p:cNvSpPr/>
          <p:nvPr/>
        </p:nvSpPr>
        <p:spPr>
          <a:xfrm>
            <a:off x="6181344" y="4407408"/>
            <a:ext cx="5358384" cy="1042416"/>
          </a:xfrm>
          <a:prstGeom prst="roundRect">
            <a:avLst>
              <a:gd name="adj" fmla="val 12281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64224" y="453542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总结展望 · 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964424" y="451713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明确边界与验证路径</a:t>
            </a:r>
          </a:p>
        </p:txBody>
      </p:sp>
      <p:sp>
        <p:nvSpPr>
          <p:cNvPr id="27" name="Text 25"/>
          <p:cNvSpPr txBox="1"/>
          <p:nvPr/>
        </p:nvSpPr>
        <p:spPr>
          <a:xfrm>
            <a:off x="7964424" y="4892040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病例扩展 / 教学验证 / 外部验证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004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VALUE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从竞赛作品走向可复用的医学影像教学实验平台</a:t>
            </a:r>
          </a:p>
        </p:txBody>
      </p:sp>
      <p:sp>
        <p:nvSpPr>
          <p:cNvPr id="4" name="Shape 2"/>
          <p:cNvSpPr/>
          <p:nvPr/>
        </p:nvSpPr>
        <p:spPr>
          <a:xfrm>
            <a:off x="640080" y="1856232"/>
            <a:ext cx="5349240" cy="1508760"/>
          </a:xfrm>
          <a:prstGeom prst="roundRect">
            <a:avLst>
              <a:gd name="adj" fmla="val 8485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8483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医学生学习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2331720" y="2066544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二维CT → 连续切片 → 三维空间认知</a:t>
            </a:r>
          </a:p>
        </p:txBody>
      </p:sp>
      <p:sp>
        <p:nvSpPr>
          <p:cNvPr id="7" name="Shape 5"/>
          <p:cNvSpPr/>
          <p:nvPr/>
        </p:nvSpPr>
        <p:spPr>
          <a:xfrm>
            <a:off x="6190488" y="1856232"/>
            <a:ext cx="5349240" cy="1508760"/>
          </a:xfrm>
          <a:prstGeom prst="roundRect">
            <a:avLst>
              <a:gd name="adj" fmla="val 8485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19088" y="208483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教师教学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7882128" y="2066544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真实病例 + AI分级提示 + 可操作实验</a:t>
            </a:r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5349240" cy="1508760"/>
          </a:xfrm>
          <a:prstGeom prst="roundRect">
            <a:avLst>
              <a:gd name="adj" fmla="val 8485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023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技术可信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2331720" y="400507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冻结v7 + full-volume验证 + 真实Prediction</a:t>
            </a:r>
          </a:p>
        </p:txBody>
      </p:sp>
      <p:sp>
        <p:nvSpPr>
          <p:cNvPr id="13" name="Shape 11"/>
          <p:cNvSpPr/>
          <p:nvPr/>
        </p:nvSpPr>
        <p:spPr>
          <a:xfrm>
            <a:off x="6190488" y="3794760"/>
            <a:ext cx="5349240" cy="1508760"/>
          </a:xfrm>
          <a:prstGeom prst="roundRect">
            <a:avLst>
              <a:gd name="adj" fmla="val 8485"/>
            </a:avLst>
          </a:prstGeom>
          <a:solidFill>
            <a:srgbClr val="0D2232">
              <a:alpha val="96000"/>
            </a:srgbClr>
          </a:solidFill>
          <a:ln w="12700">
            <a:solidFill>
              <a:srgbClr val="2447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19088" y="4023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推广复用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7882128" y="400507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扩展到更多骨科部位与医学影像教学任务</a:t>
            </a:r>
          </a:p>
        </p:txBody>
      </p:sp>
      <p:sp>
        <p:nvSpPr>
          <p:cNvPr id="16" name="Text 14"/>
          <p:cNvSpPr txBox="1"/>
          <p:nvPr/>
        </p:nvSpPr>
        <p:spPr>
          <a:xfrm>
            <a:off x="822960" y="5623560"/>
            <a:ext cx="10469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当前为医学影像教学与科研辅助原型；不替代临床诊断，不虚构尚未开展的教学效果统计。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AIC比赛/assets_final/05_sdf3d_2880x18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1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1A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2344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智骨云析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2267712"/>
            <a:ext cx="9326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不只是让 AI 分割骨结构，</a:t>
            </a:r>
          </a:p>
          <a:p>
            <a:r>
              <a:t>而是让真实 AI 帮助学生看懂 CT、理解空间、完成纠错。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2103120" y="4160520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OBSERVE  →  AI HINT  →  VERIFY  →  3D  →  REFLECT</a:t>
            </a:r>
          </a:p>
        </p:txBody>
      </p:sp>
      <p:sp>
        <p:nvSpPr>
          <p:cNvPr id="8" name="Text 5"/>
          <p:cNvSpPr txBox="1"/>
          <p:nvPr/>
        </p:nvSpPr>
        <p:spPr>
          <a:xfrm>
            <a:off x="3931920" y="57150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谢谢评审 · Q&amp;A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AIC Competition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智骨云析_AIC答辩PPT</dc:title>
  <dc:subject>AIC AI+学科交叉答辩</dc:subject>
  <dc:creator>智骨云析项目组</dc:creator>
  <cp:lastModifiedBy>智骨云析项目组</cp:lastModifiedBy>
  <cp:revision>1</cp:revision>
  <dcterms:created xsi:type="dcterms:W3CDTF">2026-09-20T09:15:48Z</dcterms:created>
  <dcterms:modified xsi:type="dcterms:W3CDTF">2026-09-20T09:15:48Z</dcterms:modified>
</cp:coreProperties>
</file>