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开场：我们聚焦医学生从二维断层影像建立三维空间关系的学习过程。平台把已有三维分割结果转化为可逐步调用、可与专家标注核验的影像参照。右侧为 v7 在 validation197 病例 0663 上保存的 prediction 重建，不是通用示意图。模型任务为椎骨前景二分类。
[Sources]
D:/国创项目/experiments/20260917_185941_ctspine1k_v7_segformer3d_hr_hard_negative_precision/full_volume_validation197/summary.json
D:/国创项目/docs/13_v7_final_model_freeze.md
D:/国创项目/../AIC比赛/01_作品说明文档/智骨云析_作品说明书.docx
D:/国创项目/../AIC比赛/99_历史备份_非提交/重制工作区_20260923/assets/mesh_summary.json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说明三个具体教学动作：在单层判断、沿相邻层面追踪、在三维空间核验。已有研究讨论空间能力和三维模型呈现对解剖学习的影响，但该研究不是本项目或 CT 教学的验证。本项目尚无师生需求问卷或教学试点统计，不展示虚构百分比。
[Sources]
https://doi.org/10.1038/s41598-023-35046-2
D:/国创项目/web/frontend/teaching.js
D:/国创项目/web/frontend/practice.js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产品流程分成五个动作。前两级提示来自教学规则，第三级才展示当前病例已保存的模型 prediction。MPR 与 3D 通过 evaluation ID 和 case ID 关联。基础练习目前为 6 道规则判分题，错题提供章节/实验入口，尚未形成完整个体学习画像。
[Sources]
D:/国创项目/web/frontend/teaching.js
D:/国创项目/web/frontend/practice.js
D:/国创项目/web/frontend/index.html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创新陈述限定为本项目的结构改进、错误驱动工程优化和教学场景适配。SegFormer3D 编码器不是自主原创。Tversky、Marching Cubes、GroupNorm 等为已有方法。v6 与 v7 是组合 pipeline 对照，不是单模块控制变量实验。残余假阳性精修 v7.1 完成但未被采纳，不列作性能成功点。
[Sources]
https://openaccess.thecvf.com/content/CVPR2024W/DEF-AI-MIA/html/Perera_SegFormer3D_An_Efficient_Transformer_for_3D_Medical_Image_Segmentation_CVPRW_2024_paper.html
D:/国创项目/src/modeling/segformer3d_hr_decoder.py
D:/国创项目/src/modeling/joint_loss.py
D:/国创项目/web/frontend/teaching.js
D:/国创项目/src/reconstruction/mesh.py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模型读取编码器 C1-C4 feature maps，而不是简单上采样原 all-MLP decoder 的低分辨率 logits。逐级与 skip feature 拼接，再融合原始 CT 的 half/full-resolution shallow path。图中 C1-C4 尺度及 decoder 通道数来自配置和源码。该结构的独立边界增益尚缺完整同协议消融，因此描述机制与实现，不单独归因数值提升。
[Sources]
D:/国创项目/src/modeling/segformer3d_hr_decoder.py
D:/国创项目/configs/orthopedic_ct_full_large_scale_v7_segformer3d_hr_hard_negative_precision.yaml
https://openaccess.thecvf.com/content/CVPR2024W/DEF-AI-MIA/html/Perera_SegFormer3D_An_Efficient_Transformer_for_3D_Medical_Image_Segmentation_CVPRW_2024_paper.html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损失定义以 joint_loss.py 为准，alpha 对应 FP，beta 对应 FN。v7 hard_sampling 配置保留 high_loss 接口，但历史 guidance 仅有 7 例，不能声称 v7 对 train610 完成全量困难样本引导；v7.1 才实际完成 610/610 residual-FP guidance。主讲只展示确实落实的优化目标、采样统计与固定后处理。
[Sources]
D:/国创项目/src/modeling/joint_loss.py
D:/国创项目/configs/orthopedic_ct_full_large_scale_v7_segformer3d_hr_hard_negative_precision.yaml
D:/国创项目/experiments/20260917_185941_ctspine1k_v7_segformer3d_hr_hard_negative_precision/sampling_stats.csv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当前开发缓存为 0.6.0-compact-u16-fixed-hu-minmax-1p5mm-nibsafe，不能误用早期 1 mm、case-wise z-score 作为 v7 协议。807 例全量 audit missing/QC bad/geometry bad/suspicious HU 均记录为 0。原始椎体类别合并为 binary foreground，因此不能将 Prediction 解释为椎弓根、椎板或单椎体编号自动分类。历史 pilot 曾访问 liver_169，本页不声称所有 test 数据在项目历史上从未被访问。
[Sources]
D:/国创项目/docs/14_ctspine1k_v6_fullscale_stage_20260916.md
D:/国创项目/configs/orthopedic_ct_full_large_scale_v7_segformer3d_hr_hard_negative_precision.yaml
D:/国创项目/PROJECT_STATUS.md
https://arxiv.org/abs/2105.14711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这是已经运行的工程架构，不把本地可运行等同于无需病例数据的独立便携软件。Web API 健康检查存在，saved evaluation 资产可加载。病例迁移依赖缓存、predictions、路径配置和许可范围。v7 validation 平均 inference_seconds 约 92.69 s，仅代表该本机 CPU 评估记录，非页面响应时间。
[Sources]
D:/国创项目/web/backend/app.py
D:/国创项目/web/frontend/teaching.js
D:/国创项目/web/frontend/research_3d.js
D:/国创项目/web/desktop_shell.py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工作量用实际产物体现，避免把文件数或代码行数当作创新指标。日期来自台账和 experiment 路径。当前检查复用了冻结模型结果，不重新运行 validation197 或 test。历史消融多数属于 10-case pilot，不与扩样后的 v7 主结果混合。
[Sources]
D:/国创项目/PROJECT_STATUS.md
D:/国创项目/docs/14_ctspine1k_v6_fullscale_stage_20260916.md
D:/国创项目/docs/14_training_line_final_handoff.md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成员姓名来自本地作品说明书。资料未明确三个人分别负责哪个模块，不能臆造个人贡献或专业背景。图表描述工程的模块协作与复核要求。7 passed 是本次已执行的 test_reconstruction_mesh / test_segformer3d_hr_decoder / test_web_health 关键回归记录，不是全量当前测试数。历史 138 passed 仅属于当时阶段，未写成最新全量结果。正式报名材料如要求逐人责任，应由团队补充确认。
[Sources]
D:/国创项目/../AIC比赛/01_作品说明文档/智骨云析_作品说明书.docx
D:/国创项目/TASKS.md
D:/国创项目/CONTRIBUTING.md
D:/国创项目/../AIC比赛/99_历史备份_非提交/重制工作区_20260923/qa_tests.txt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强调结果的评价集合和性质。0.9402 是 patch selector，不能作为本页主性能。v7 full-volume Dice mean 为 0.7933430437，std 为 0.3033803606，后续一页专门展示困难病例分布。HD95、ASSD 的均值仍较高，当前不足以支撑临床测量或自动诊断。
[Sources]
D:/国创项目/experiments/20260917_185941_ctspine1k_v7_segformer3d_hr_hard_negative_precision/full_volume_validation197/summary.json
D:/国创项目/docs/13_v7_final_model_freeze.md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v6 mean Dice 0.4845271987、Precision 0.3433617778、Recall 0.8686251163。v7 分别为 0.7933430437、0.7862013885、0.8244633247。Dice 绝对差约 0.3088，但没有同协议单因素消融，不能把它归为 HR decoder 或 hard mining 的独立提升。两个版本均有 HR decoder；改善并不是从无 HR 到有 HR。
[Sources]
D:/国创项目/experiments/20260916_163356_ctspine1k_v6_segformer3d_hr_full610_val197/full_volume_validation197/summary.json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本次对既有 CSV 按边界 [0,0.5,0.7,0.8,0.9,1.000001] 统计，病例数为 32、5、3、22、135，总计 197。中位数约 0.9410，但不能用中位数掩盖 32 例低于 0.5 的失效。展示全体分布比只展示最佳病例更能解释当前工程边界。
[Sources]
D:/国创项目/experiments/20260917_185941_ctspine1k_v7_segformer3d_hr_hard_negative_precision/full_volume_validation197/metrics_per_case.csv
D:/国创项目/docs/14_training_line_final_handoff.md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示例全量 case ID 为 ctspine1k-colonog-1.3.6.1.4.1.9328.50.4.0663。Raw/Prediction/GT 图片从 v7 evaluation API 重新提取，避免使用旧素材中的 v7.1 图却配 v7 指标。该病例 Dice 0.9639699031、Precision 0.9702431462、Recall 0.9577772599、HD95 1.5 mm，均为单例结果。GT 来源为数据集标注，与模型输出独立展示。
[Sources]
D:/国创项目/experiments/20260917_185941_ctspine1k_v7_segformer3d_hr_hard_negative_precision/full_volume_validation197/metrics_per_case.csv
D:/国创项目/../AIC比赛/99_历史备份_非提交/重制工作区_20260923/assets/evidence.json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本次从已保存 v7 prediction 构建网格，未重新运行模型。原始 81432 vertices/162844 faces，简化 62889/125946，vertex reduction 0.2277114648，vertex-nearest ASSD 0.17930 mm，HD95 0.60654 mm。该指标是工程近似，不能冒充临床表面距离或解剖精度。三维图真实绑定 v7 病例0663。SDF 和连通域保护属于已有代码能力，本页数据为 mask mesh，不把 SDF 描述为这张图的实际来源。
[Sources]
D:/国创项目/src/reconstruction/mesh.py
D:/国创项目/src/reconstruction/sdf_surface.py
D:/国创项目/src/reconstruction/measurement.py
D:/国创项目/../AIC比赛/99_历史备份_非提交/重制工作区_20260923/assets/mesh_summary.json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teaching.js 的 locateStart 先切回 raw；locateAi 第1级方向提示、第2级空间提示、第3级 Prediction，前两级是规则文本而非生成式大模型。teaching-hit 根据归一化 XYZ 查询真实 GT；MPR 使用相同病例与坐标更新。teacher/student 为两种交互模式，不是已实现完整权限系统。旧截图页面中的内部 case 标识用于可追溯，截图是真实界面，不制作虚假 UI。
[Sources]
D:/国创项目/web/frontend/teaching.js
D:/国创项目/web/backend/app.py
D:/国创项目/web/frontend/teaching.html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回应学科应用效果，但如实区分已完成和计划。教学试点需要教师审核题目、匹配内容和时长，并记录前测、后测、延迟测和无提示迁移。定位准确性需要按任务定义，不仅仅在很大的前景区域任意点中就算学会。不得使用未开展的样本数、提升比例或统计显著性。
[Sources]
https://www.aicomp.cn/tracks/tracks-2/3806.html
D:/国创项目/web/frontend/teaching.js
D:/国创项目/web/frontend/practice.js
D:/国创项目/experiments/20260917_185941_ctspine1k_v7_segformer3d_hr_hard_negative_precision/full_volume_validation197/summary.json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现有 CPU full-volume 评估可运行不是推理高效的结论。没有核验 GPU 设备或价格，因此不填写 GPU 加速倍数、云端费用与虚构预算。软件单 exe 不包含全部研究数据，迁移需要相关病例资产、路径配置与授权核验。公共数据与 SegFormer3D 上游许可必须分别遵守。
[Sources]
D:/国创项目/PROJECT_STATUS.md
D:/国创项目/web/desktop_shell.py
D:/国创项目/SECURITY.md
D:/国创项目/third_party/README.md
D:/国创项目/docs/09_public_repository_manifest.md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v7 是唯一冻结工程主模型，v7.1 已归档，后续研究按新的协议开展。可以考虑 nnU-Net 等跨架构基线，但本项目未报告实测对比成绩。教学方面先补齐可评价任务和学习日志，再证明对学生无提示迁移能力的帮助，而不是只增加页面功能。
[Sources]
D:/国创项目/docs/13_v7_final_model_freeze.md
D:/国创项目/docs/14_training_line_final_handoff.md
https://www.aicomp.cn/tracks/tracks-2/3806.html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结束时回到学科价值：不是用模型替学生完成判断，而是通过真实 Prediction、专家标注和物理空间工具，使学习过程能够反复观察和核验。当前成绩是开发期算法与工程证据，真实教学成效是下一步验证重点。
[Sources]
D:/国创项目/docs/13_v7_final_model_freeze.md
D:/国创项目/web/frontend/teaching.js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v7.1 的 full-volume 结果较 v7 主协议退化；固定32768阈值的 secondary comparison 也未超过 v7，因此不重新开启阈值搜索。完成残余FP采样引导是实际工作量，但不等于部署性能收益。主模型、主结果、展示素材统一为 v7。
[Sources]
D:/国创项目/docs/13_v7_final_model_freeze.md
D:/国创项目/docs/14_training_line_final_handoff.md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v7 canonical path: experiments/20260917_185941_ctspine1k_v7_segformer3d_hr_hard_negative_precision。配置 inference.batchnorm_mode=running 为通用执行模式参数；HR decoder 使用 GroupNorm，不能把BN开关写成网络全部使用BN。当前 v7 uncertainty_available=false，源CSV校准字段为空，故主讲不展示虚构 v7 uncertainty热图或校准结果。
[Sources]
D:/国创项目/configs/orthopedic_ct_full_large_scale_v7_segformer3d_hr_hard_negative_precision.yaml
D:/国创项目/experiments/20260917_185941_ctspine1k_v7_segformer3d_hr_hard_negative_precision/summary.json
D:/国创项目/experiments/20260917_185941_ctspine1k_v7_segformer3d_hr_hard_negative_precision/full_volume_validation197/summary.json
D:/国创项目/experiments/20260917_185941_ctspine1k_v7_segformer3d_hr_hard_negative_precision/full_volume_validation197/metrics_per_case.csv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外部文献和模板只用于来源说明与视觉参考，不复制他人结果或套用开源backbone为原创。视觉参考为 pmichaillat/latex-presentation 的留白与图表优先原则，SlidesCarnival Minimal Medical 的克制医疗配色；未使用其模板文件或图库。官方评分规则用于组织内容，评分映射仅保留在内部交付说明，不放入主讲页。
[Sources]
https://openaccess.thecvf.com/content/CVPR2024W/DEF-AI-MIA/html/Perera_SegFormer3D_An_Efficient_Transformer_for_3D_Medical_Image_Segmentation_CVPRW_2024_paper.html
https://arxiv.org/abs/2105.14711
https://doi.org/10.1038/s41598-023-35046-2
https://www.aicomp.cn/tracks/tracks-2/3806.html
https://github.com/OSUPCVLab/SegFormer3D
https://github.com/pmichaillat/latex-presentation
https://www.slidescarnival.com/template/cerimon-free-presentation-template/1100
D:/国创项目/docs/13_v7_final_model_freeze.md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143547"/>
          </a:solidFill>
          <a:ln w="12700">
            <a:solidFill>
              <a:srgbClr val="14354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35240" y="502920"/>
            <a:ext cx="0" cy="5806440"/>
          </a:xfrm>
          <a:prstGeom prst="line">
            <a:avLst/>
          </a:prstGeom>
          <a:noFill/>
          <a:ln w="10160">
            <a:solidFill>
              <a:srgbClr val="2B51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53035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spc="150" kern="0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AIC 2026  /  AI + 学科交叉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141732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265176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智能分割与</a:t>
            </a:r>
            <a:endParaRPr lang="en-US" sz="2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三维空间认知教学实验平台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67512" y="3986784"/>
            <a:ext cx="6355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BD1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 多尺度编码  ×  高分辨率解码  ×  物理空间交互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67512" y="4846320"/>
            <a:ext cx="6053328" cy="0"/>
          </a:xfrm>
          <a:prstGeom prst="line">
            <a:avLst/>
          </a:prstGeom>
          <a:noFill/>
          <a:ln w="12700">
            <a:solidFill>
              <a:srgbClr val="3453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514807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3E2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队长  贾泽铭     队员  林荣盛、彭彦博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7512" y="6144768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CB9C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全球校园人工智能算法精英大赛 · 智青春·算未来</a:t>
            </a:r>
            <a:endParaRPr lang="en-US" sz="1050" dirty="0"/>
          </a:p>
        </p:txBody>
      </p:sp>
      <p:pic>
        <p:nvPicPr>
          <p:cNvPr id="11" name="Image 0" descr="真实项目素材：mesh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2644" y="603504"/>
            <a:ext cx="1781625" cy="550468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119872" y="164592"/>
            <a:ext cx="1828800" cy="274320"/>
          </a:xfrm>
          <a:prstGeom prst="rect">
            <a:avLst/>
          </a:prstGeom>
          <a:solidFill>
            <a:srgbClr val="183F50"/>
          </a:solidFill>
          <a:ln w="12700">
            <a:solidFill>
              <a:srgbClr val="183F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02168" y="18288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 PREDICTION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955280" y="633679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9C7D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来自真实 CT 的三维分割表面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需求分析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把“看见切片”转化为“理解空间”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学科场景：医学影像与骨科解剖入门 · 教师演示、实验实训、学生自主练习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484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断层定位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9232" y="194767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一张切片中的局部形态，难以直接对应完整三维结构。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9232" y="2587752"/>
            <a:ext cx="4773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三平面联动 + 连续切片追踪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03504" y="3035808"/>
            <a:ext cx="7351776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218688"/>
            <a:ext cx="484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34440" y="321868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提示时机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999232" y="318211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没有参照容易卡住；直接展示标注又跳过了自主观察。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999232" y="3822192"/>
            <a:ext cx="4773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先判断，再逐级调用分割参考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03504" y="4270248"/>
            <a:ext cx="7351776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453128"/>
            <a:ext cx="48463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34440" y="4453128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错误复核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999232" y="4416552"/>
            <a:ext cx="4773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只知道答案对错，仍缺少重新定位和比较的操作路径。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999232" y="5056632"/>
            <a:ext cx="4773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回到原始 CT、专家 GT 与三维空间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375904" y="1911096"/>
            <a:ext cx="3264408" cy="3803904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24" name="Image 0" descr="真实项目素材：raw_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8731" y="2103120"/>
            <a:ext cx="2778753" cy="3163824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8549640" y="5367528"/>
            <a:ext cx="2926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6DCE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真实矢状位 CT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需求来自教学任务分析；空间能力与解剖学习的关联参考 Koh 等（2023），不作为本平台教学效果证明。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解决方案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同一病例，贯通观察、提示、核验与复盘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的作用是提供结构参照；学生的判断仍回到真实影像中完成。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自主观察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Raw CT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2560320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43784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0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43784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分级提示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843784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规则提示 → Prediction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4809744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93208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75504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93208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空间核验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93208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连续切片 + MPR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059168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42632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24928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342632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三维理解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342632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物理空间表面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9308592" y="2423160"/>
            <a:ext cx="182880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592056" y="1874520"/>
            <a:ext cx="43891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74352" y="18928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592056" y="23225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练习复盘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9592056" y="2770632"/>
            <a:ext cx="1938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 → 对应实验</a:t>
            </a:r>
            <a:endParaRPr lang="en-US" sz="1270" dirty="0"/>
          </a:p>
        </p:txBody>
      </p:sp>
      <p:sp>
        <p:nvSpPr>
          <p:cNvPr id="33" name="Shape 31"/>
          <p:cNvSpPr/>
          <p:nvPr/>
        </p:nvSpPr>
        <p:spPr>
          <a:xfrm>
            <a:off x="594360" y="3355848"/>
            <a:ext cx="7004304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pic>
        <p:nvPicPr>
          <p:cNvPr id="34" name="Image 0" descr="真实项目素材：home_ui.png">    </p:cNvPr>
          <p:cNvPicPr>
            <a:picLocks noChangeAspect="1"/>
          </p:cNvPicPr>
          <p:nvPr/>
        </p:nvPicPr>
        <p:blipFill>
          <a:blip r:embed="rId1"/>
          <a:srcRect l="0" r="0" t="26115" b="26115"/>
          <a:stretch/>
        </p:blipFill>
        <p:spPr>
          <a:xfrm>
            <a:off x="685800" y="3410712"/>
            <a:ext cx="6821424" cy="224028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046720" y="35661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一个教学实验环境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046720" y="4142232"/>
            <a:ext cx="342900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病例与影像有真实来源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分割与标注保持独立切换</a:t>
            </a:r>
            <a:endParaRPr lang="en-US" sz="1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二维、三维共享病例上下文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当前定位：医学影像教学与科研辅助原型；不是自动疾病诊断，也不是通用大模型问答系统。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三项改进，连接模型输出与教学操作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以现有 SegFormer3D 编码器为基础，自研工作集中于解码、工程优化与教学交互。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911096"/>
            <a:ext cx="3538728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1911096"/>
            <a:ext cx="3538728" cy="59436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167128"/>
            <a:ext cx="914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04672" y="2852928"/>
            <a:ext cx="30998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高分辨率三维解码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04672" y="3529584"/>
            <a:ext cx="31089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C1–C4 逐级融合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CT 浅层分支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恢复至输入空间尺寸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04672" y="498348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解决分割细节表达问题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04672" y="540410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segformer3d_hr_decoder.py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4361688" y="1911096"/>
            <a:ext cx="3538728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61688" y="1911096"/>
            <a:ext cx="3538728" cy="59436"/>
          </a:xfrm>
          <a:prstGeom prst="rect">
            <a:avLst/>
          </a:prstGeom>
          <a:solidFill>
            <a:srgbClr val="153044"/>
          </a:solidFill>
          <a:ln w="12700">
            <a:solidFill>
              <a:srgbClr val="1530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2167128"/>
            <a:ext cx="914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0" y="2852928"/>
            <a:ext cx="30998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全体积误检控制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572000" y="3529584"/>
            <a:ext cx="31089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 加权 Tversky + CE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完整体积滑窗复核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固定连通域后处理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498348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 patch 与全体积的差异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0" y="540410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joint_loss.py / evaluate.py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8129016" y="1911096"/>
            <a:ext cx="3538728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29016" y="1911096"/>
            <a:ext cx="3538728" cy="59436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39328" y="2167128"/>
            <a:ext cx="914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339328" y="2852928"/>
            <a:ext cx="309981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可核验的影像实验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339328" y="3529584"/>
            <a:ext cx="31089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按需显示模型分割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 定位反馈与三平面联动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Prediction → 物理空间 3D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339328" y="498348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AI 结果转为学生操作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39328" y="540410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teaching.js / mesh.py</a:t>
            </a:r>
            <a:endParaRPr lang="en-US" sz="970" dirty="0"/>
          </a:p>
        </p:txBody>
      </p:sp>
      <p:sp>
        <p:nvSpPr>
          <p:cNvPr id="30" name="Text 28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开源编码器、标准算法与本项目适配分别注明来源；不将常用技术组合描述为全领域首次。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 / 网络结构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多尺度语义与浅层空间细节逐级融合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 Encoder + High-Resolution 3D Decoder · 以 64³ 输入为例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47672"/>
            <a:ext cx="1143000" cy="1005840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03120"/>
            <a:ext cx="8046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94944" y="2578608"/>
            <a:ext cx="960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B9D2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× 64³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31136" y="1865376"/>
            <a:ext cx="7406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上游多尺度编码器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40280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31720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C1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313432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16³ · 32 ch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3794760" y="2660904"/>
            <a:ext cx="173736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96512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87952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169664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8³ · 64 ch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5650992" y="2660904"/>
            <a:ext cx="173736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2744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44184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025896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4³ · 160 ch</a:t>
            </a:r>
            <a:endParaRPr lang="en-US" sz="1130" dirty="0"/>
          </a:p>
        </p:txBody>
      </p:sp>
      <p:sp>
        <p:nvSpPr>
          <p:cNvPr id="24" name="Shape 22"/>
          <p:cNvSpPr/>
          <p:nvPr/>
        </p:nvSpPr>
        <p:spPr>
          <a:xfrm>
            <a:off x="7507224" y="2660904"/>
            <a:ext cx="173736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08976" y="2313432"/>
            <a:ext cx="1417320" cy="932688"/>
          </a:xfrm>
          <a:prstGeom prst="rect">
            <a:avLst/>
          </a:prstGeom>
          <a:solidFill>
            <a:srgbClr val="E1EBF0"/>
          </a:solidFill>
          <a:ln w="12700">
            <a:solidFill>
              <a:srgbClr val="E1EB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00416" y="2432304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C4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882128" y="2852928"/>
            <a:ext cx="1271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3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2³ · 256 ch</a:t>
            </a:r>
            <a:endParaRPr lang="en-US" sz="1130" dirty="0"/>
          </a:p>
        </p:txBody>
      </p:sp>
      <p:sp>
        <p:nvSpPr>
          <p:cNvPr id="28" name="Shape 26"/>
          <p:cNvSpPr/>
          <p:nvPr/>
        </p:nvSpPr>
        <p:spPr>
          <a:xfrm>
            <a:off x="1901952" y="2624328"/>
            <a:ext cx="182880" cy="164592"/>
          </a:xfrm>
          <a:prstGeom prst="chevron">
            <a:avLst/>
          </a:prstGeom>
          <a:solidFill>
            <a:srgbClr val="5B7080"/>
          </a:solidFill>
          <a:ln w="12700">
            <a:solidFill>
              <a:srgbClr val="5B70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44584" y="2779776"/>
            <a:ext cx="1243584" cy="0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88168" y="2779776"/>
            <a:ext cx="0" cy="1078992"/>
          </a:xfrm>
          <a:prstGeom prst="line">
            <a:avLst/>
          </a:prstGeom>
          <a:noFill/>
          <a:ln w="17780">
            <a:solidFill>
              <a:srgbClr val="087F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84080" y="3858768"/>
            <a:ext cx="1371600" cy="832104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29800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 C4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838944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DED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ch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 rot="10800000">
            <a:off x="9427464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08976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54696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C3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0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ch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 rot="10800000">
            <a:off x="7452360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52744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98464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C2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007608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 ch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 rot="10800000">
            <a:off x="5596128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96512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42232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C1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151376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ch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 rot="10800000">
            <a:off x="3739896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1/2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295144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ch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 rot="10800000">
            <a:off x="1883664" y="4187952"/>
            <a:ext cx="164592" cy="155448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2648" y="3858768"/>
            <a:ext cx="1371600" cy="832104"/>
          </a:xfrm>
          <a:prstGeom prst="rect">
            <a:avLst/>
          </a:prstGeom>
          <a:solidFill>
            <a:srgbClr val="E8F3F3"/>
          </a:solidFill>
          <a:ln w="9525">
            <a:solidFill>
              <a:srgbClr val="087F8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8368" y="396849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1×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67512" y="43251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ch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6656832" y="3246120"/>
            <a:ext cx="0" cy="256032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656832" y="3502152"/>
            <a:ext cx="1837944" cy="0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494776" y="3502152"/>
            <a:ext cx="0" cy="356616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00600" y="3246120"/>
            <a:ext cx="0" cy="256032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502152"/>
            <a:ext cx="1837944" cy="0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638544" y="3502152"/>
            <a:ext cx="0" cy="356616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4368" y="3246120"/>
            <a:ext cx="0" cy="256032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944368" y="3502152"/>
            <a:ext cx="1837944" cy="0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82312" y="3502152"/>
            <a:ext cx="0" cy="356616"/>
          </a:xfrm>
          <a:prstGeom prst="line">
            <a:avLst/>
          </a:prstGeom>
          <a:noFill/>
          <a:ln w="16510">
            <a:solidFill>
              <a:srgbClr val="50B6B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70432" y="2953512"/>
            <a:ext cx="0" cy="585216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170432" y="3538728"/>
            <a:ext cx="1746504" cy="0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16936" y="3538728"/>
            <a:ext cx="0" cy="320040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70432" y="3538728"/>
            <a:ext cx="0" cy="320040"/>
          </a:xfrm>
          <a:prstGeom prst="line">
            <a:avLst/>
          </a:prstGeom>
          <a:noFill/>
          <a:ln w="13970">
            <a:solidFill>
              <a:srgbClr val="087F8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" y="5120640"/>
            <a:ext cx="1554480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85800" y="5138928"/>
            <a:ext cx="1389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浅层分支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2359152" y="5120640"/>
            <a:ext cx="4462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 与 1× 分辨率特征参与解码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7671816" y="5120640"/>
            <a:ext cx="1078992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54112" y="513892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输出对齐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8961120" y="512978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× 64³ logits</a:t>
            </a:r>
            <a:endParaRPr lang="en-US" sz="1500" dirty="0"/>
          </a:p>
        </p:txBody>
      </p:sp>
      <p:sp>
        <p:nvSpPr>
          <p:cNvPr id="73" name="Text 71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融合块：三线性上采样 → 特征拼接 → Conv3D / GroupNorm / GELU；输出与输入保持同空间尺寸。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 / 优化策略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将假阳性控制写入优化目标与推理流程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问题由完整体积暴露：v6 召回较高，但 Precision 仅 0.3434，预测前景膨胀至 3.71 倍。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938528"/>
            <a:ext cx="5029200" cy="3538728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21945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FP 加权的区域优化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832104" y="2944368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4F2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Tversky = TP / (TP + 0.7FP + 0.3FN)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2104" y="3822192"/>
            <a:ext cx="4526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4F2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 = 0.8 × (1 − Tversky) + 1.2 × CE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2104" y="4608576"/>
            <a:ext cx="4489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BBD3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对误检施加更强惩罚，同时保留区域重叠与分类约束。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17336" y="1975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84264" y="1975104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保留背景判别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684264" y="2459736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64³ patch 训练；前景概率 0.75，记录实际前景 / 背景采样统计。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17336" y="32278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84264" y="3227832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完整体积滑窗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84264" y="3712464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96³ ROI、50% overlap，检查局部学习与完整 CT 的差异。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17336" y="447141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84264" y="4471416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固定结构后处理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684264" y="4956048"/>
            <a:ext cx="4782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剔除小于 8,192 体素的连通域，主协议确定后冻结。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 → v7 同时涉及训练配置和后处理变化，属于系统级改进；不能视为某个模块的独立消融收益。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数据与工程实施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807 例开发数据，先建立可追溯的影像基础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CTSpine1K · 按病例划分开发集 · 当前任务为椎骨前景二分类分割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892808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610</a:t>
            </a:r>
            <a:endParaRPr lang="en-US" sz="4300" dirty="0"/>
          </a:p>
        </p:txBody>
      </p:sp>
      <p:sp>
        <p:nvSpPr>
          <p:cNvPr id="10" name="Text 8"/>
          <p:cNvSpPr/>
          <p:nvPr/>
        </p:nvSpPr>
        <p:spPr>
          <a:xfrm>
            <a:off x="685800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训练病例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35224" y="1892808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197</a:t>
            </a:r>
            <a:endParaRPr lang="en-US" sz="4300" dirty="0"/>
          </a:p>
        </p:txBody>
      </p:sp>
      <p:sp>
        <p:nvSpPr>
          <p:cNvPr id="12" name="Text 10"/>
          <p:cNvSpPr/>
          <p:nvPr/>
        </p:nvSpPr>
        <p:spPr>
          <a:xfrm>
            <a:off x="2935224" y="26700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验证病例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532120" y="1892808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1.5 mm</a:t>
            </a:r>
            <a:endParaRPr lang="en-US" sz="4300" dirty="0"/>
          </a:p>
        </p:txBody>
      </p:sp>
      <p:sp>
        <p:nvSpPr>
          <p:cNvPr id="14" name="Text 12"/>
          <p:cNvSpPr/>
          <p:nvPr/>
        </p:nvSpPr>
        <p:spPr>
          <a:xfrm>
            <a:off x="5532120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各向同性缓存间距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540496" y="1892808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807 / 807</a:t>
            </a:r>
            <a:endParaRPr lang="en-US" sz="4300" dirty="0"/>
          </a:p>
        </p:txBody>
      </p:sp>
      <p:sp>
        <p:nvSpPr>
          <p:cNvPr id="16" name="Text 14"/>
          <p:cNvSpPr/>
          <p:nvPr/>
        </p:nvSpPr>
        <p:spPr>
          <a:xfrm>
            <a:off x="8540496" y="2670048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全量缓存与审计完成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稳定读取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完整性 / CRC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异常读取回退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2900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1188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强度处理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61188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HU：−1000 ～ 2000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min-max 缓存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6364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4652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空间一致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4652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shape / spacing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affine / 标签对齐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098280" y="3694176"/>
            <a:ext cx="2624328" cy="163677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81160" y="3895344"/>
            <a:ext cx="225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标签约束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281160" y="4425696"/>
            <a:ext cx="225856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原标签 1–25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训练统一映射为前景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本轮 train610 / validation197 未将 test198 用于训练或选参；历史 10 例 pilot 与当前主线分开归档。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方案可行性 / 系统架构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训练与课堂解耦：离线生成，交互读取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课堂不等待重新训练或完整体积推理，而是使用可回溯到模型版本的病例资产。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2029968"/>
            <a:ext cx="336499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3816" y="2249424"/>
            <a:ext cx="429768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267712"/>
            <a:ext cx="265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13816" y="2779776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离线算法层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13816" y="3374136"/>
            <a:ext cx="2971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 缓存 / 固定 split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SegFormer3D-HR 训练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全体积评估与版本冻结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123944" y="3191256"/>
            <a:ext cx="164592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2029968"/>
            <a:ext cx="3364992" cy="2331720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08576" y="2249424"/>
            <a:ext cx="429768" cy="274320"/>
          </a:xfrm>
          <a:prstGeom prst="rect">
            <a:avLst/>
          </a:prstGeom>
          <a:solidFill>
            <a:srgbClr val="224859"/>
          </a:solidFill>
          <a:ln w="12700">
            <a:solidFill>
              <a:srgbClr val="22485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2267712"/>
            <a:ext cx="265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08576" y="2779776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病例资产层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4608576" y="3374136"/>
            <a:ext cx="2971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4D8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Prediction + 逐例指标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4D8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CT + 专家 GT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4D8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物理几何 + Mesh / SDF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918704" y="3191256"/>
            <a:ext cx="164592" cy="164592"/>
          </a:xfrm>
          <a:prstGeom prst="chevron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11312" y="2029968"/>
            <a:ext cx="3364992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0" y="2249424"/>
            <a:ext cx="429768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94776" y="2267712"/>
            <a:ext cx="265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412480" y="2779776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教学交互层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8412480" y="3374136"/>
            <a:ext cx="2971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/ MPR 图像接口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学生实验 / 教师演示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WebGL2 三维观察与测量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12648" y="4736592"/>
            <a:ext cx="10972800" cy="841248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248" y="4928616"/>
            <a:ext cx="3922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Aptos" pitchFamily="34" charset="-120"/>
              </a:rPr>
              <a:t>共享 evaluation_id + case_id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029200" y="4919472"/>
            <a:ext cx="6236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数值指标、二维叠加与三维表面保持同源关联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演示读取已有真实产物；当前 /infer 接口并不等于已开放任意新病例的实时模型推理。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项目实施 / 研发工作量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用数据、实验和软件产物记录研发过程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从真实 CT 接入，到算法迭代，再到可操作的教学原型。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96112" y="2377440"/>
            <a:ext cx="10021824" cy="0"/>
          </a:xfrm>
          <a:prstGeom prst="line">
            <a:avLst/>
          </a:prstGeom>
          <a:noFill/>
          <a:ln w="25400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3816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08.15–08.16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9224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真实数据接入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NIfTI / 几何 / QC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例工程链验证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026664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62072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08.26–08.29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62072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机制与消融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862072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归一化 / 采样 / 损失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精修与重建验证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239512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09.16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扩展开发规模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807 例缓存审计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610 / 197 固定划分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452360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87768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09.17–09.22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287768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主模型冻结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87768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197 例全体积评估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负结果归档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665208" y="2313432"/>
            <a:ext cx="128016" cy="128016"/>
          </a:xfrm>
          <a:prstGeom prst="ellipse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0616" y="1938528"/>
            <a:ext cx="18653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09.22–09.23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500616" y="2770632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教学原型集成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500616" y="3328416"/>
            <a:ext cx="19568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MPR / 定位反馈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三维与课堂模式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03504" y="4498848"/>
            <a:ext cx="10981944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4672584"/>
            <a:ext cx="32186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807</a:t>
            </a:r>
            <a:endParaRPr lang="en-US" sz="4300" dirty="0"/>
          </a:p>
        </p:txBody>
      </p:sp>
      <p:sp>
        <p:nvSpPr>
          <p:cNvPr id="32" name="Text 30"/>
          <p:cNvSpPr/>
          <p:nvPr/>
        </p:nvSpPr>
        <p:spPr>
          <a:xfrm>
            <a:off x="676656" y="5449824"/>
            <a:ext cx="3218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例开发缓存 / 几何审计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17136" y="4672584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610</a:t>
            </a:r>
            <a:endParaRPr lang="en-US" sz="4300" dirty="0"/>
          </a:p>
        </p:txBody>
      </p:sp>
      <p:sp>
        <p:nvSpPr>
          <p:cNvPr id="34" name="Text 32"/>
          <p:cNvSpPr/>
          <p:nvPr/>
        </p:nvSpPr>
        <p:spPr>
          <a:xfrm>
            <a:off x="4517136" y="544982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例残余 FP 引导生成与审计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39328" y="4672584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× 197</a:t>
            </a:r>
            <a:endParaRPr lang="en-US" sz="4300" dirty="0"/>
          </a:p>
        </p:txBody>
      </p:sp>
      <p:sp>
        <p:nvSpPr>
          <p:cNvPr id="36" name="Text 34"/>
          <p:cNvSpPr/>
          <p:nvPr/>
        </p:nvSpPr>
        <p:spPr>
          <a:xfrm>
            <a:off x="8339328" y="5449824"/>
            <a:ext cx="3310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 / v7 / v7.1 全体积评估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× 197 指同一验证队列的三个版本评估，不是 591 名独立患者；v7.1 产物保留为负向实验。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项目实施 / 协作与质量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以模块交付和交叉复核组织工程协作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参赛成员：队长 贾泽铭 · 队员 林荣盛、彭彦博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84248"/>
            <a:ext cx="10981944" cy="603504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2020824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协作模块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42616" y="2020824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92824" y="2020824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复核要求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" y="2587752"/>
            <a:ext cx="10981944" cy="603504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26243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数据与质控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42616" y="2624328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病例清单、几何审计、标签规则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92824" y="2624328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进入训练前核对来源与空间一致性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2648" y="3191256"/>
            <a:ext cx="10981944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322783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模型与评估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42616" y="3227832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配置、checkpoint、逐病例指标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92824" y="3227832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训练选择器与完整体积结果分列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3794760"/>
            <a:ext cx="10981944" cy="603504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" y="383133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三维与 Web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42616" y="3831336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MPR、Mesh / SDF、教学交互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92824" y="3831336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在同一病例链路核验真实预测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" y="4398264"/>
            <a:ext cx="10981944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443484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材料与发布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42616" y="4434840"/>
            <a:ext cx="36941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说明书、演示、PPT、Git 记录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92824" y="4434840"/>
            <a:ext cx="4873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数字、截图、版本信息交叉复核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97280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2376" y="536752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质量记录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984248" y="5321808"/>
            <a:ext cx="9418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已有自动化测试与 CI；本次补充关键模块回归：7 passed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协作过程保留配置、结果与版本记录；模块交付以可运行产物和可复核证据为准。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算法验证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B8CF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CT 体积验证：Dice 0.7933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B8CF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· 固定 validation197 · 197 / 197 病例完成 · 逐病例指标取均值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3150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2020824"/>
            <a:ext cx="54864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0.7933</a:t>
            </a:r>
            <a:endParaRPr lang="en-US" sz="8600" dirty="0"/>
          </a:p>
        </p:txBody>
      </p:sp>
      <p:sp>
        <p:nvSpPr>
          <p:cNvPr id="10" name="Text 8"/>
          <p:cNvSpPr/>
          <p:nvPr/>
        </p:nvSpPr>
        <p:spPr>
          <a:xfrm>
            <a:off x="758952" y="3575304"/>
            <a:ext cx="5212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dirty="0">
                <a:solidFill>
                  <a:srgbClr val="50B6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Dice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6245352" y="2121408"/>
            <a:ext cx="0" cy="3291840"/>
          </a:xfrm>
          <a:prstGeom prst="line">
            <a:avLst/>
          </a:prstGeom>
          <a:noFill/>
          <a:ln w="12700">
            <a:solidFill>
              <a:srgbClr val="3153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2057400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0.7862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683496" y="2194560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3163824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0.8245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683496" y="3300984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66560" y="4270248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0.7347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683496" y="4407408"/>
            <a:ext cx="18288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IoU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68096" y="468172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37.95 mm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768096" y="5276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HD95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93592" y="4681728"/>
            <a:ext cx="24140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8.81 mm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3593592" y="527608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8D0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7C1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主协议：96³ ROI · overlap 0.5 · 连通域阈值 8,192 体素；属于开发期验证结果，不是独立测试或临床结论。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版本对照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从前景过预测，转向更均衡的系统输出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 validation197 上比较已保存的 v6 与 v7 完整体积结果。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04088" y="1874520"/>
            <a:ext cx="557784" cy="274320"/>
          </a:xfrm>
          <a:prstGeom prst="rect">
            <a:avLst/>
          </a:prstGeom>
          <a:solidFill>
            <a:srgbClr val="E4EBEF"/>
          </a:solidFill>
          <a:ln w="12700">
            <a:solidFill>
              <a:srgbClr val="E4EB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892808"/>
            <a:ext cx="39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463040" y="1874520"/>
            <a:ext cx="557784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45336" y="1892808"/>
            <a:ext cx="393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5385816"/>
            <a:ext cx="7187184" cy="0"/>
          </a:xfrm>
          <a:prstGeom prst="line">
            <a:avLst/>
          </a:prstGeom>
          <a:noFill/>
          <a:ln w="8890">
            <a:solidFill>
              <a:srgbClr val="DCE5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5285232"/>
            <a:ext cx="2926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4014216"/>
            <a:ext cx="7187184" cy="0"/>
          </a:xfrm>
          <a:prstGeom prst="line">
            <a:avLst/>
          </a:prstGeom>
          <a:noFill/>
          <a:ln w="8890">
            <a:solidFill>
              <a:srgbClr val="DCE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913632"/>
            <a:ext cx="2926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2642616"/>
            <a:ext cx="7187184" cy="0"/>
          </a:xfrm>
          <a:prstGeom prst="line">
            <a:avLst/>
          </a:prstGeom>
          <a:noFill/>
          <a:ln w="8890">
            <a:solidFill>
              <a:srgbClr val="DCE5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542032"/>
            <a:ext cx="2926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59536" y="4056736"/>
            <a:ext cx="594360" cy="1329080"/>
          </a:xfrm>
          <a:prstGeom prst="rect">
            <a:avLst/>
          </a:prstGeom>
          <a:solidFill>
            <a:srgbClr val="A8BBC7"/>
          </a:solidFill>
          <a:ln w="12700">
            <a:solidFill>
              <a:srgbClr val="A8BB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9244" y="370926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0.4845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627632" y="3209635"/>
            <a:ext cx="594360" cy="2176181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77340" y="2862163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0.7933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95528" y="550468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53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82696" y="4443801"/>
            <a:ext cx="594360" cy="942015"/>
          </a:xfrm>
          <a:prstGeom prst="rect">
            <a:avLst/>
          </a:prstGeom>
          <a:solidFill>
            <a:srgbClr val="A8BBC7"/>
          </a:solidFill>
          <a:ln w="12700">
            <a:solidFill>
              <a:srgbClr val="A8BB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32404" y="4096329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0.3434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050792" y="3229112"/>
            <a:ext cx="594360" cy="2156704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00500" y="288164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0.7862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218688" y="550468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53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705856" y="3003072"/>
            <a:ext cx="594360" cy="2382744"/>
          </a:xfrm>
          <a:prstGeom prst="rect">
            <a:avLst/>
          </a:prstGeom>
          <a:solidFill>
            <a:srgbClr val="A8BBC7"/>
          </a:solidFill>
          <a:ln w="12700">
            <a:solidFill>
              <a:srgbClr val="A8BB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55564" y="265560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0.8686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73952" y="3124048"/>
            <a:ext cx="594360" cy="2261768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3660" y="2776576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0.8245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641848" y="550468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530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375904" y="1929384"/>
            <a:ext cx="3246120" cy="378561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95360" y="2212848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误检与表面偏差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595360" y="2880360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前景体积比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95360" y="3182112"/>
            <a:ext cx="2770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3.71× → 1.68×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595360" y="3685032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HD95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595360" y="3986784"/>
            <a:ext cx="2770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166.10 → 37.95 mm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595360" y="4489704"/>
            <a:ext cx="2770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ASSD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595360" y="4791456"/>
            <a:ext cx="2770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38.33 → 8.81 mm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v6 无连通域过滤，v7 使用 8,192 体素阈值；图中改善包含训练与后处理贡献，不是网络结构的单独增益。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失败分析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平均值之外，保留困难病例的真实分布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validation197 · Dice 分箱来自 metrics_per_case.csv，不重新推理或重新选参。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1248" y="4570510"/>
            <a:ext cx="841248" cy="641570"/>
          </a:xfrm>
          <a:prstGeom prst="rect">
            <a:avLst/>
          </a:prstGeom>
          <a:solidFill>
            <a:srgbClr val="B48750"/>
          </a:solidFill>
          <a:ln w="12700">
            <a:solidFill>
              <a:srgbClr val="B487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4186462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AD6E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76656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 0.50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2176272" y="5111835"/>
            <a:ext cx="841248" cy="100245"/>
          </a:xfrm>
          <a:prstGeom prst="rect">
            <a:avLst/>
          </a:prstGeom>
          <a:solidFill>
            <a:srgbClr val="A7C1CA"/>
          </a:solidFill>
          <a:ln w="12700">
            <a:solidFill>
              <a:srgbClr val="A7C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93976" y="4727787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11680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0.50–0.70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3511296" y="5151933"/>
            <a:ext cx="841248" cy="60147"/>
          </a:xfrm>
          <a:prstGeom prst="rect">
            <a:avLst/>
          </a:prstGeom>
          <a:solidFill>
            <a:srgbClr val="A7C1CA"/>
          </a:solidFill>
          <a:ln w="12700">
            <a:solidFill>
              <a:srgbClr val="A7C1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767885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346704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0.70–0.80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4846320" y="4771001"/>
            <a:ext cx="841248" cy="441079"/>
          </a:xfrm>
          <a:prstGeom prst="rect">
            <a:avLst/>
          </a:prstGeom>
          <a:solidFill>
            <a:srgbClr val="A7C1CA"/>
          </a:solidFill>
          <a:ln w="12700">
            <a:solidFill>
              <a:srgbClr val="A7C1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64024" y="4386953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681728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0.80–0.90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181344" y="2505456"/>
            <a:ext cx="841248" cy="2706624"/>
          </a:xfrm>
          <a:prstGeom prst="rect">
            <a:avLst/>
          </a:prstGeom>
          <a:solidFill>
            <a:srgbClr val="087F83"/>
          </a:solidFill>
          <a:ln w="12700">
            <a:solidFill>
              <a:srgbClr val="087F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99048" y="2121408"/>
            <a:ext cx="1005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016752" y="5413248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70" dirty="0">
                <a:solidFill>
                  <a:srgbClr val="5B70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 0.90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649224" y="5221224"/>
            <a:ext cx="6903720" cy="0"/>
          </a:xfrm>
          <a:prstGeom prst="line">
            <a:avLst/>
          </a:prstGeom>
          <a:noFill/>
          <a:ln w="11430">
            <a:solidFill>
              <a:srgbClr val="D7E2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4152" y="1938528"/>
            <a:ext cx="354787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11896" y="2267712"/>
            <a:ext cx="30632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AD6E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 / 197</a:t>
            </a:r>
            <a:endParaRPr lang="en-US" sz="3700" dirty="0"/>
          </a:p>
        </p:txBody>
      </p:sp>
      <p:sp>
        <p:nvSpPr>
          <p:cNvPr id="27" name="Text 25"/>
          <p:cNvSpPr/>
          <p:nvPr/>
        </p:nvSpPr>
        <p:spPr>
          <a:xfrm>
            <a:off x="8311896" y="303580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 Dice &lt; 0.50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311896" y="3703320"/>
            <a:ext cx="303580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高分病例与严重失败并存。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低质量结果需要明确提示、专家参考与回到原始 CT 的核验路径。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二分类模型不能自动识别椎骨亚结构；尚无外部 / 多中心验证，当前不报告教学显著性或临床可用性。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真实影像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同一病例，对照原始 CT、v7 预测与专家标注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示例病例：CTSpine1K COLONOG · 0663 · 矢状位 · 相同空间位置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" y="1993392"/>
            <a:ext cx="3529584" cy="3557016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10" name="Image 0" descr="真实项目素材：raw_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966" y="2112264"/>
            <a:ext cx="2754660" cy="313639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94944" y="5276088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D6E6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 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70832" y="1993392"/>
            <a:ext cx="3529584" cy="3557016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13" name="Image 1" descr="真实项目素材：prediction_sagit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294" y="2112264"/>
            <a:ext cx="2754660" cy="31363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62272" y="5276088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D6E6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Prediction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38160" y="1993392"/>
            <a:ext cx="3529584" cy="3557016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pic>
        <p:nvPicPr>
          <p:cNvPr id="16" name="Image 2" descr="真实项目素材：gt_sagit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5622" y="2112264"/>
            <a:ext cx="2754660" cy="31363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5276088"/>
            <a:ext cx="3337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D6E6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 GT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该示例 Dice 0.9640，属于表现较好的单例，用于说明结果关联；不代表全部病例平均性能。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技术创新 / 三维工程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从体素分割到毫米空间中的可操作表面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v7 示例的真实 Prediction → Marching Cubes → 特征加权网格简化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47672"/>
            <a:ext cx="3419856" cy="3849624"/>
          </a:xfrm>
          <a:prstGeom prst="rect">
            <a:avLst/>
          </a:prstGeom>
          <a:solidFill>
            <a:srgbClr val="E5EFF1"/>
          </a:solidFill>
          <a:ln w="12700">
            <a:solidFill>
              <a:srgbClr val="E5EFF1"/>
            </a:solidFill>
            <a:prstDash val="solid"/>
          </a:ln>
        </p:spPr>
      </p:sp>
      <p:pic>
        <p:nvPicPr>
          <p:cNvPr id="10" name="Image 0" descr="真实项目素材：mesh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056018"/>
            <a:ext cx="1152144" cy="35597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462272" y="201168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物理坐标映射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462272" y="2578608"/>
            <a:ext cx="65653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origin + direction × diag(spacing) × index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462272" y="3273552"/>
            <a:ext cx="6757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法向变化加权的顶点聚类，在简化时保留局部几何特征。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462272" y="3941064"/>
            <a:ext cx="19385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81,432</a:t>
            </a:r>
            <a:endParaRPr lang="en-US" sz="4300" dirty="0"/>
          </a:p>
        </p:txBody>
      </p:sp>
      <p:sp>
        <p:nvSpPr>
          <p:cNvPr id="15" name="Text 12"/>
          <p:cNvSpPr/>
          <p:nvPr/>
        </p:nvSpPr>
        <p:spPr>
          <a:xfrm>
            <a:off x="4462272" y="4718304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原始顶点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803136" y="3941064"/>
            <a:ext cx="20299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62,889</a:t>
            </a:r>
            <a:endParaRPr lang="en-US" sz="4300" dirty="0"/>
          </a:p>
        </p:txBody>
      </p:sp>
      <p:sp>
        <p:nvSpPr>
          <p:cNvPr id="17" name="Text 14"/>
          <p:cNvSpPr/>
          <p:nvPr/>
        </p:nvSpPr>
        <p:spPr>
          <a:xfrm>
            <a:off x="6803136" y="4718304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简化顶点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9144000" y="3941064"/>
            <a:ext cx="23134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43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22.77%</a:t>
            </a:r>
            <a:endParaRPr lang="en-US" sz="4300" dirty="0"/>
          </a:p>
        </p:txBody>
      </p:sp>
      <p:sp>
        <p:nvSpPr>
          <p:cNvPr id="19" name="Text 16"/>
          <p:cNvSpPr/>
          <p:nvPr/>
        </p:nvSpPr>
        <p:spPr>
          <a:xfrm>
            <a:off x="9144000" y="4718304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顶点减少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462272" y="5458968"/>
            <a:ext cx="699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Aptos" pitchFamily="34" charset="-120"/>
              </a:rPr>
              <a:t>1.5 mm 聚类 · 工程 vertex-HD95 0.607 mm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网格简化误差相对原始预测表面计算，不是预测相对 GT 的分割误差；SDF 另有连通域保护机制。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教学交互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先定位，再调用模型参照与专家核验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已实现学生实验 / 教师演示、三平面联动、分级提示与 GT 定位反馈。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1938528"/>
            <a:ext cx="7031736" cy="3776472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pic>
        <p:nvPicPr>
          <p:cNvPr id="10" name="Image 0" descr="真实项目素材：teaching_ui.png">    </p:cNvPr>
          <p:cNvPicPr>
            <a:picLocks noChangeAspect="1"/>
          </p:cNvPicPr>
          <p:nvPr/>
        </p:nvPicPr>
        <p:blipFill>
          <a:blip r:embed="rId1"/>
          <a:srcRect l="0" r="0" t="14852" b="14852"/>
          <a:stretch/>
        </p:blipFill>
        <p:spPr>
          <a:xfrm>
            <a:off x="667512" y="2011680"/>
            <a:ext cx="6885432" cy="36301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37576" y="20116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604504" y="2011680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在原始 CT 中定位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604504" y="249631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学生先点击判断，系统依据专家 GT 反馈是否落在椎骨前景。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037576" y="327355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04504" y="3273552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按需查看参考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604504" y="3758184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两级规则提示后，可显示保存的模型 Prediction。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037576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604504" y="4535424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回到空间中复核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8604504" y="5020056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连续切片与三平面确认位置，再切换到同病例三维观察。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定位命中是体素级 GT 反馈，不等于完整解剖能力评分；当前没有将模型不确定性误当作学生掌握度。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应用效果 / 证据边界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算法与工程已验证，教学收益需要真实试点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把“能运行”和“能提升学习效果”分开评价。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47672"/>
            <a:ext cx="5285232" cy="3557016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176272"/>
            <a:ext cx="1051560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2194560"/>
            <a:ext cx="88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已有证据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41248" y="2779776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模型有效性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1248" y="3264408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197 例完整体积分割，逐病例指标可追溯。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248" y="4014216"/>
            <a:ext cx="4800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工程可操作性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" y="4498848"/>
            <a:ext cx="4736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Prediction / GT / MPR / 3D 贯通，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定位反馈与课堂模式可操作。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54496" y="1947672"/>
            <a:ext cx="5330952" cy="3557016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83096" y="2176272"/>
            <a:ext cx="1353312" cy="274320"/>
          </a:xfrm>
          <a:prstGeom prst="rect">
            <a:avLst/>
          </a:prstGeom>
          <a:solidFill>
            <a:srgbClr val="D6EAEA"/>
          </a:solidFill>
          <a:ln w="12700">
            <a:solidFill>
              <a:srgbClr val="D6E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1945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下一步试点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83096" y="2779776"/>
            <a:ext cx="48554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对照设计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83096" y="3264408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相同病例与课时：静态课件 / 常规阅片，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对比平台任务训练。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83096" y="4169664"/>
            <a:ext cx="485546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主要观察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83096" y="464515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AI 提示的新病例定位准确率、完成时间，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以及延迟测验中的空间理解与迁移。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尚未取得教学试点、师生反馈或课堂效率统计；不将算法 Dice 直接解释为教学增益。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方案可行性 / 部署与复用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以病例资产复用，降低课堂运行门槛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先面向本地教学实验，再逐步扩展院校与课程使用。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2011680"/>
            <a:ext cx="3419856" cy="30815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86000"/>
            <a:ext cx="29809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现有资源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822960" y="3054096"/>
            <a:ext cx="299923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 Windows 工作站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已完成实际评估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Web 与桌面入口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553712"/>
            <a:ext cx="2916936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5256" y="45720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不要求课堂重新训练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98264" y="2011680"/>
            <a:ext cx="3419856" cy="30815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2286000"/>
            <a:ext cx="29809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运行条件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4608576" y="3054096"/>
            <a:ext cx="299923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病例 CT / GT 缓存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已保存模型 Prediction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匹配的路径与版本配置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08576" y="4553712"/>
            <a:ext cx="2916936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90872" y="45720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软件与数据一起迁移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83880" y="2011680"/>
            <a:ext cx="3419856" cy="3081528"/>
          </a:xfrm>
          <a:prstGeom prst="rect">
            <a:avLst/>
          </a:prstGeom>
          <a:solidFill>
            <a:srgbClr val="FFFFFF"/>
          </a:solidFill>
          <a:ln w="9525">
            <a:solidFill>
              <a:srgbClr val="D7E2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94192" y="2286000"/>
            <a:ext cx="298094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主要投入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394192" y="3054096"/>
            <a:ext cx="299923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计算与病例存储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教师审核与任务设计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部署维护与数据授权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394192" y="4553712"/>
            <a:ext cx="2916936" cy="274320"/>
          </a:xfrm>
          <a:prstGeom prst="rect">
            <a:avLst/>
          </a:prstGeom>
          <a:solidFill>
            <a:srgbClr val="E8F3F3"/>
          </a:solidFill>
          <a:ln w="12700">
            <a:solidFill>
              <a:srgbClr val="E8F3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76488" y="4572000"/>
            <a:ext cx="2752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尚无正式经费预算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" y="5477256"/>
            <a:ext cx="10981944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605272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复用路径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185416" y="5605272"/>
            <a:ext cx="9400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教师审核病例包  →  课程任务配置  →  小规模试用  →  同类课程推广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上游代码与病例数据保留来源和使用许可；真实影像、权重及大体积缓存不默认进入公开 Git。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总结与展望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从可运行原型，走向可验证的教学工具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下一阶段围绕教学证据与泛化验证，不继续在同一 validation197 上无止境调参。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2648" y="2002536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612648" y="2816352"/>
            <a:ext cx="3438144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3063240"/>
            <a:ext cx="3410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近期：完善病例实验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2648" y="377647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教师审核病例与任务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记录提示使用、错误类型、操作路径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12648" y="5202936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验收：一套可复用的课程病例包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398264" y="2002536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800" dirty="0"/>
          </a:p>
        </p:txBody>
      </p:sp>
      <p:sp>
        <p:nvSpPr>
          <p:cNvPr id="15" name="Shape 13"/>
          <p:cNvSpPr/>
          <p:nvPr/>
        </p:nvSpPr>
        <p:spPr>
          <a:xfrm>
            <a:off x="4398264" y="2816352"/>
            <a:ext cx="3438144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98264" y="3063240"/>
            <a:ext cx="3410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中期：开展教学试点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98264" y="377647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前后测与无提示新病例迁移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比较准确性、耗时及延迟保持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98264" y="5202936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验收：真实数据与效应量报告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83880" y="2002536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50B6B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8183880" y="2816352"/>
            <a:ext cx="3438144" cy="0"/>
          </a:xfrm>
          <a:prstGeom prst="line">
            <a:avLst/>
          </a:prstGeom>
          <a:noFill/>
          <a:ln w="25400">
            <a:solidFill>
              <a:srgbClr val="087F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3063240"/>
            <a:ext cx="3410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后续：验证算法泛化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183880" y="377647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同协议跨架构基线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外部数据与更细标签任务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83880" y="5202936"/>
            <a:ext cx="34015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验收：独立研究协议与外部结果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当前边界：椎骨前景二分类 · 困难病例仍有失效 · 无外部临床验证 · 无已完成教学效果试验。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B8CF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让分割结果成为可核验的学习参照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3150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6B6C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77083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从二维切片出发，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在真实三维空间中完成理解。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76656" y="4169664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76656" y="4736592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高分辨率分割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4169664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3200400" y="4736592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物理坐标一致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724144" y="4169664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50B6B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5724144" y="4736592"/>
            <a:ext cx="232257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B8D0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观察、核验、复盘</a:t>
            </a:r>
            <a:endParaRPr lang="en-US" sz="1500" dirty="0"/>
          </a:p>
        </p:txBody>
      </p:sp>
      <p:pic>
        <p:nvPicPr>
          <p:cNvPr id="15" name="Image 0" descr="真实项目素材：mesh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28" y="1686628"/>
            <a:ext cx="1335024" cy="41248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85800" y="5760720"/>
            <a:ext cx="6400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D8E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补充材料 A / 版本选择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已完成验证，但不替代冻结的 v7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Residual false-positive guidance：610 / 610 训练病例；validation / test 不参与引导生成。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01952"/>
            <a:ext cx="11009376" cy="457200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19385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72584" y="1938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主协议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1312" y="1938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主协议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" y="2359152"/>
            <a:ext cx="11009376" cy="457200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23957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72584" y="2395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0.7933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11312" y="2395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0.7027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2648" y="2816352"/>
            <a:ext cx="110093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" y="28529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72584" y="28529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0.7862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11312" y="28529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0.6122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3273552"/>
            <a:ext cx="11009376" cy="457200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" y="33101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672584" y="33101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0.8245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11312" y="33101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0.8797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" y="3730752"/>
            <a:ext cx="110093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37673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HD95（mm）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672584" y="37673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37.95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11312" y="37673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132.53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2648" y="4187952"/>
            <a:ext cx="11009376" cy="457200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" y="42245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ASSD（mm）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72584" y="4224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8.81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11312" y="42245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24.19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2648" y="4645152"/>
            <a:ext cx="11009376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" y="4681728"/>
            <a:ext cx="3675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 / GT 前景比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672584" y="4681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1.6849×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211312" y="4681728"/>
            <a:ext cx="3282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2.8933×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04088" y="5422392"/>
            <a:ext cx="302666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300" b="1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决策：保留 v7</a:t>
            </a:r>
            <a:endParaRPr lang="en-US" sz="2300" dirty="0"/>
          </a:p>
        </p:txBody>
      </p:sp>
      <p:sp>
        <p:nvSpPr>
          <p:cNvPr id="38" name="Text 36"/>
          <p:cNvSpPr/>
          <p:nvPr/>
        </p:nvSpPr>
        <p:spPr>
          <a:xfrm>
            <a:off x="3749040" y="541324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召回提高，但重叠、误检和表面距离综合退化；新版本并不自动成为主模型。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v7.1 于 epoch 5 early stop，best epoch 2；全部 197 例全体积验证完成后作为负结果归档。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补充材料 B / 复现信息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锁定任务、配置与结果口径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模型配置、数据集合和结果产物一一对应，避免使用不同阶段的指标或截图。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2648" y="1901952"/>
            <a:ext cx="11009376" cy="475488"/>
          </a:xfrm>
          <a:prstGeom prst="rect">
            <a:avLst/>
          </a:prstGeom>
          <a:solidFill>
            <a:srgbClr val="102A3A"/>
          </a:solidFill>
          <a:ln w="12700">
            <a:solidFill>
              <a:srgbClr val="10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0664" y="193852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26664" y="1938528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冻结主线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" y="2377440"/>
            <a:ext cx="11009376" cy="475488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0664" y="241401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26664" y="2414016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椎骨前景 binary semantic；2 类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" y="2852928"/>
            <a:ext cx="1100937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2889504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26664" y="2889504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CTSpine1K train610 / validation197；1.5 mm 缓存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" y="3328416"/>
            <a:ext cx="11009376" cy="475488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" y="3364992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26664" y="3364992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64³ patch；batch 1；AdamW；GroupNorm 解码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2648" y="3803904"/>
            <a:ext cx="1100937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0664" y="3840480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026664" y="3840480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96³ ROI；overlap 0.5；8,192 体素连通域过滤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2648" y="4279392"/>
            <a:ext cx="11009376" cy="475488"/>
          </a:xfrm>
          <a:prstGeom prst="rect">
            <a:avLst/>
          </a:prstGeom>
          <a:solidFill>
            <a:srgbClr val="EDF3F5"/>
          </a:solidFill>
          <a:ln w="12700">
            <a:solidFill>
              <a:srgbClr val="EDF3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" y="431596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26664" y="4315968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full_volume_validation197 / summary.json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2648" y="4754880"/>
            <a:ext cx="11009376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0664" y="479145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026664" y="4791456"/>
            <a:ext cx="8467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20260917_185941... / checkpoint / best.pt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4088" y="54315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AD6E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0.9402 ≠ 0.7933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4572000" y="5431536"/>
            <a:ext cx="6940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前者是局部 patch 选择器；后者才是完整 CT 体积的验证均值。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calibration 未开启，主验证未保存 uncertainty 产物；旧 pilot 的不确定性结果不能直接移植为 v7 结论。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spc="120" kern="0" dirty="0">
                <a:solidFill>
                  <a:srgbClr val="087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补充材料 C / 来源与引用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9966960" y="292608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spc="150" kern="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ZHIGU YUNXI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95528"/>
            <a:ext cx="110185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研究依据、开源来源与项目证据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53312"/>
            <a:ext cx="11045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每页备注附来源；演示图像、模型指标和工程网格分别记录其对应产物。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8255">
            <a:solidFill>
              <a:srgbClr val="D7E2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73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智骨云析  /  AI + 医学影像教学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091672" y="645566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929384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362456" y="1929384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SegFormer3D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379976" y="1892808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Perera, Navard &amp; Yilmaz · CVPR Workshops 2024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采用开源层次化编码器；本项目扩展高分辨率解码与空间分支。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630936" y="2688336"/>
            <a:ext cx="10945368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62072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362456" y="2862072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CTSpine1K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79976" y="2825496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Deng 等 · arXiv:2105.14711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公开脊柱 CT 数据集；本项目使用固定 610 / 197 开发划分。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630936" y="3621024"/>
            <a:ext cx="10945368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794760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362456" y="37947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空间能力与解剖教学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379976" y="3758184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Koh, Tan &amp; Mogali · Scientific Reports 2023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用于教学设计背景，不作为本平台教学有效性的证据。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630936" y="4553712"/>
            <a:ext cx="10945368" cy="0"/>
          </a:xfrm>
          <a:prstGeom prst="line">
            <a:avLst/>
          </a:prstGeom>
          <a:noFill/>
          <a:ln w="12700">
            <a:solidFill>
              <a:srgbClr val="D7E2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727448"/>
            <a:ext cx="548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08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362456" y="4727448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530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项目内可追溯材料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79976" y="4690872"/>
            <a:ext cx="71231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v7 冻结文档 · 完整体积 CSV / JSON · 源码与配置</a:t>
            </a:r>
            <a:endParaRPr lang="en-US" sz="13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8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本次提取 v7 病例素材；旧版和负向实验保留独立归档。</a:t>
            </a:r>
            <a:endParaRPr lang="en-US" sz="1380" dirty="0"/>
          </a:p>
        </p:txBody>
      </p:sp>
      <p:sp>
        <p:nvSpPr>
          <p:cNvPr id="24" name="Text 22"/>
          <p:cNvSpPr/>
          <p:nvPr/>
        </p:nvSpPr>
        <p:spPr>
          <a:xfrm>
            <a:off x="548640" y="5998464"/>
            <a:ext cx="11082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7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视觉参考：极简学术演示与医疗研究模板；本稿为原创排版，不套用第三方院校标识或付费模板素材。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智骨云析项目组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智骨云析｜CT智能分割与空间认知教学实验平台</dc:title>
  <dc:subject>AIC AI+学科交叉：骨科CT空间认知教学</dc:subject>
  <dc:creator>智骨云析项目组</dc:creator>
  <cp:lastModifiedBy>智骨云析项目组</cp:lastModifiedBy>
  <cp:revision>1</cp:revision>
  <dcterms:created xsi:type="dcterms:W3CDTF">2026-09-23T12:23:15Z</dcterms:created>
  <dcterms:modified xsi:type="dcterms:W3CDTF">2026-09-23T12:23:15Z</dcterms:modified>
</cp:coreProperties>
</file>